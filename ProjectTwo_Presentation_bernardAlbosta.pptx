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rial"/>
          <a:ea typeface="Arial"/>
          <a:cs typeface="Arial"/>
        </a:font>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
          <a:latin typeface="Arial"/>
          <a:ea typeface="Arial"/>
          <a:cs typeface="Arial"/>
        </a:font>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
          <a:latin typeface="Arial"/>
          <a:ea typeface="Arial"/>
          <a:cs typeface="Arial"/>
        </a:font>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
          <a:latin typeface="Arial"/>
          <a:ea typeface="Arial"/>
          <a:cs typeface="Arial"/>
        </a:font>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3CCCB"/>
          </a:solidFill>
        </a:fill>
      </a:tcStyle>
    </a:wholeTbl>
    <a:band2H>
      <a:tcTxStyle b="def" i="def"/>
      <a:tcStyle>
        <a:tcBdr/>
        <a:fill>
          <a:solidFill>
            <a:srgbClr val="F9E7E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E8CC"/>
          </a:solidFill>
        </a:fill>
      </a:tcStyle>
    </a:wholeTbl>
    <a:band2H>
      <a:tcTxStyle b="def" i="def"/>
      <a:tcStyle>
        <a:tcBdr/>
        <a:fill>
          <a:solidFill>
            <a:srgbClr val="FBF4E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EF2"/>
          </a:solidFill>
        </a:fill>
      </a:tcStyle>
    </a:wholeTbl>
    <a:band2H>
      <a:tcTxStyle b="def" i="def"/>
      <a:tcStyle>
        <a:tcBdr/>
        <a:fill>
          <a:solidFill>
            <a:srgbClr val="E8EFF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2" name="Shape 192"/>
          <p:cNvSpPr/>
          <p:nvPr>
            <p:ph type="sldImg"/>
          </p:nvPr>
        </p:nvSpPr>
        <p:spPr>
          <a:xfrm>
            <a:off x="1143000" y="685800"/>
            <a:ext cx="4572000" cy="3429000"/>
          </a:xfrm>
          <a:prstGeom prst="rect">
            <a:avLst/>
          </a:prstGeom>
        </p:spPr>
        <p:txBody>
          <a:bodyPr/>
          <a:lstStyle/>
          <a:p>
            <a:pPr/>
          </a:p>
        </p:txBody>
      </p:sp>
      <p:sp>
        <p:nvSpPr>
          <p:cNvPr id="193" name="Shape 1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This presentation explains how I would apply the Green Pace security policy during development and after release. The goal is to make secure coding consistent as the GreenPace team grows. I will cover the risks behind the standards, explain where automation helps, and use integer overflow tests to show how a policy becomes something we can check.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To me, defense in depth means planning for a control to fail and having another layer ready. Our attack surface includes user input, files, database connections, login services, and dependencies. I would reduce unnecessary entry points and check data whenever it crosses a trust boundary. The policy supports that approach with coding rules, encryption, access checks, and monitoring. For example, parameterized queries prevent input from changing SQL, while limited database permissions reduce the damage if another part of the application fails. The illustration shows how these protections fit around the data we need to protect.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I kept the severity and likelihood estimates from my Week Six policy. The matrix places string storage, SQL injection, released memory, and container bounds in the high-impact, likely group because each can expose data or allow memory corruption. Narrowing conversions, signed overflow, uninitialized values, and mismatched deletion still have high impact, even though the policy rates them as probable. Assertion side effects and exception cleanup fall in the medium-impact, probable group. These placements are planning judgments rather than measured attack rates. A specific exposure or new finding could move an issue higher.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219"/>
          <p:cNvSpPr/>
          <p:nvPr>
            <p:ph type="sldImg"/>
          </p:nvPr>
        </p:nvSpPr>
        <p:spPr>
          <a:prstGeom prst="rect">
            <a:avLst/>
          </a:prstGeom>
        </p:spPr>
        <p:txBody>
          <a:bodyPr/>
          <a:lstStyle/>
          <a:p>
            <a:pPr/>
          </a:p>
        </p:txBody>
      </p:sp>
      <p:sp>
        <p:nvSpPr>
          <p:cNvPr id="220" name="Shape 220"/>
          <p:cNvSpPr/>
          <p:nvPr>
            <p:ph type="body" sz="quarter" idx="1"/>
          </p:nvPr>
        </p:nvSpPr>
        <p:spPr>
          <a:prstGeom prst="rect">
            <a:avLst/>
          </a:prstGeom>
        </p:spPr>
        <p:txBody>
          <a:bodyPr/>
          <a:lstStyle/>
          <a:p>
            <a:pPr/>
            <a:r>
              <a:t>These mappings connect the standards to the ten principles in my policy. Input validation supports range, string, and index checks. Compiler warnings help identify unsafe conversions and uninitialized values. Secure architecture establishes encryption and recovery boundaries. Keeping the design simple supports clear ownership and automatic cleanup. Default deny gives an access decision a safe starting state, while least privilege limits database and key access. Parameter binding handles data sent to SQL. Defense in depth combines these controls, quality assurance checks them, and the shared coding standard gives developers a consistent basis for review.</a:t>
            </a:r>
          </a:p>
          <a:p>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hape 226"/>
          <p:cNvSpPr/>
          <p:nvPr>
            <p:ph type="sldImg"/>
          </p:nvPr>
        </p:nvSpPr>
        <p:spPr>
          <a:prstGeom prst="rect">
            <a:avLst/>
          </a:prstGeom>
        </p:spPr>
        <p:txBody>
          <a:bodyPr/>
          <a:lstStyle/>
          <a:p>
            <a:pPr/>
          </a:p>
        </p:txBody>
      </p:sp>
      <p:sp>
        <p:nvSpPr>
          <p:cNvPr id="227" name="Shape 227"/>
          <p:cNvSpPr/>
          <p:nvPr>
            <p:ph type="body" sz="quarter" idx="1"/>
          </p:nvPr>
        </p:nvSpPr>
        <p:spPr>
          <a:prstGeom prst="rect">
            <a:avLst/>
          </a:prstGeom>
        </p:spPr>
        <p:txBody>
          <a:bodyPr/>
          <a:lstStyle/>
          <a:p>
            <a:pPr/>
            <a:r>
              <a:t>I ranked the standards using the policy scores, then considered impact and exposure when scores tied. Severity and likelihood run from one to three. Low repair cost receives three, medium receives two, and high receives one. That gives quick, serious fixes more weight. String storage and checked container access score twenty-seven. SQL injection and released memory come next because their likely exposure can affect data or execution. Narrowing, initialization, and allocation pairs follow. Overflow and assertion side effects both score twelve, but overflow has higher severity. Exception cleanup scores eight. Each rule has a direct reason: preserve the intended value, keep writes inside storage, preserve SQL structure, respect object lifetime, maintain release behavior, release resources on failure, define access decisions, check indices, and use the correct deallocator. The separate one-to-five threat level is a policy judgment, not a CERT score. I would raise any confirmed exploitable defect ahead of this starting order.</a:t>
            </a:r>
          </a:p>
          <a:p>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Shape 232"/>
          <p:cNvSpPr/>
          <p:nvPr>
            <p:ph type="sldImg"/>
          </p:nvPr>
        </p:nvSpPr>
        <p:spPr>
          <a:prstGeom prst="rect">
            <a:avLst/>
          </a:prstGeom>
        </p:spPr>
        <p:txBody>
          <a:bodyPr/>
          <a:lstStyle/>
          <a:p>
            <a:pPr/>
          </a:p>
        </p:txBody>
      </p:sp>
      <p:sp>
        <p:nvSpPr>
          <p:cNvPr id="233" name="Shape 233"/>
          <p:cNvSpPr/>
          <p:nvPr>
            <p:ph type="body" sz="quarter" idx="1"/>
          </p:nvPr>
        </p:nvSpPr>
        <p:spPr>
          <a:prstGeom prst="rect">
            <a:avLst/>
          </a:prstGeom>
        </p:spPr>
        <p:txBody>
          <a:bodyPr/>
          <a:lstStyle/>
          <a:p>
            <a:pPr/>
            <a:r>
              <a:t>I would protect data according to where it is. In flight, TLS protects a login or database connection from interception. The policy prefers TLS 1.3 and allows securely configured TLS 1.2 for compatibility. At rest, encryption protects saved records and backups if someone copies the storage. Keys need separate management and recovery testing. The XOR assignment demonstrated encryption mechanics, but I would use a maintained cryptographic library for real data. In use, ordinary decryption exposes plaintext to the application. For a workload that needs protection from the host operator, the policy calls for a trusted execution environment with attestation before key release. That requires a separate threat assessment and does not remove application bugs.</a:t>
            </a:r>
          </a:p>
          <a:p>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Authentication answers who is making a request. I would use unique accounts, centrally managed authentication, and MFA for privileged and remote access. Authorization determines what that identity can do. For example, a reporting service can read approved records without permission to change them or create users. Accounting records what happened so someone can investigate it. Application events should cover logins, database changes, permission changes, and sensitive file access, while excluding secrets. If Green Pace uses Active Directory, approved groups can map to roles. LDAP connections still need TLS and certificate checks. I would test that disabling an account or removing a role actually removes access.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I chose signed integer overflow because my Week Six journal already identified it as a useful Project Two example. The original addition can evaluate a sum outside the int range. A runtime probe produced a signed-overflow diagnostic. The corrected function checks both limits before adding and returns the sum only when it fits. I tested normal input, zero, both valid boundaries, and both invalid boundaries. I used Google Test on my Mac because Visual Studio is unavailable. I have not run these tests in Visual Studio, so that remains a rubric limitation. I started with twenty plus twenty-two. The expected result is forty-two, and the test passed. This checks that the safety change still allows ordinary work. A fix that rejects everything would avoid overflow but would also break the feature. I would take this further with reversed operands and a wider set of valid quantities.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The second test adds zero to forty-two. The result stays forty-two, so the test passed. This exercises the path where neither overflow condition should reject the operation. I would also check zero with each integer limit and reverse the operand order. That would help catch an unnecessary rejection at the boundary.</a:t>
            </a:r>
          </a:p>
          <a:p>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This test checks the highest valid result. Adding one to the value just below INT_MAX should succeed and return INT_MAX. It passed. This matters because the guard needs to reject values beyond the limit while still accepting the limit itself. I would also test INT_MAX plus zero and reverse the operands to check both sides of the comparison.</a:t>
            </a:r>
          </a:p>
          <a:p>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The fourth test checks the lowest valid result. Starting one above INT_MIN and adding negative one should return INT_MIN. It passed. Testing both limits matters because a function can protect positive overflow and still mishandle negative arithmetic. Next I would add mixed-sign cases and more values close to the lower limit.</a:t>
            </a:r>
          </a:p>
          <a:p>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Shape 288"/>
          <p:cNvSpPr/>
          <p:nvPr>
            <p:ph type="sldImg"/>
          </p:nvPr>
        </p:nvSpPr>
        <p:spPr>
          <a:prstGeom prst="rect">
            <a:avLst/>
          </a:prstGeom>
        </p:spPr>
        <p:txBody>
          <a:bodyPr/>
          <a:lstStyle/>
          <a:p>
            <a:pPr/>
          </a:p>
        </p:txBody>
      </p:sp>
      <p:sp>
        <p:nvSpPr>
          <p:cNvPr id="289" name="Shape 289"/>
          <p:cNvSpPr/>
          <p:nvPr>
            <p:ph type="body" sz="quarter" idx="1"/>
          </p:nvPr>
        </p:nvSpPr>
        <p:spPr>
          <a:prstGeom prst="rect">
            <a:avLst/>
          </a:prstGeom>
        </p:spPr>
        <p:txBody>
          <a:bodyPr/>
          <a:lstStyle/>
          <a:p>
            <a:pPr/>
            <a:r>
              <a:t>This is a negative input test. INT_MAX plus one cannot fit in int, so I expect an overflow_error instead of a returned sum. Google Test passed because it observed that exception. A rejected input is the intended behavior here. The earlier unsafe probe shows why the guard matters. I would next test the caller to confirm it reports failure and leaves stored data unchanged.</a:t>
            </a:r>
          </a:p>
          <a:p>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The last test asks for a result below INT_MIN. It also passed by receiving the expected overflow_error. Together, the two rejected cases exercise both directions of the guard. All six tests passed with undefined-behavior checks enabled. That establishes these cases for this build, rather than proving the whole application secure. I would add randomized comparisons against a wider reference type and rerun the tests after changes.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hape 305"/>
          <p:cNvSpPr/>
          <p:nvPr>
            <p:ph type="sldImg"/>
          </p:nvPr>
        </p:nvSpPr>
        <p:spPr>
          <a:prstGeom prst="rect">
            <a:avLst/>
          </a:prstGeom>
        </p:spPr>
        <p:txBody>
          <a:bodyPr/>
          <a:lstStyle/>
          <a:p>
            <a:pPr/>
          </a:p>
        </p:txBody>
      </p:sp>
      <p:sp>
        <p:nvSpPr>
          <p:cNvPr id="306" name="Shape 306"/>
          <p:cNvSpPr/>
          <p:nvPr>
            <p:ph type="body" sz="quarter" idx="1"/>
          </p:nvPr>
        </p:nvSpPr>
        <p:spPr>
          <a:prstGeom prst="rect">
            <a:avLst/>
          </a:prstGeom>
        </p:spPr>
        <p:txBody>
          <a:bodyPr/>
          <a:lstStyle/>
          <a:p>
            <a:pPr/>
            <a:r>
              <a:t>The diagram shows a continuing cycle. During assessment and design, I would identify trust boundaries and define security acceptance criteria. The build stage compiles the code and runs static checks. Verification runs unit tests and sanitizer builds. Before deployment, the team checks TLS, permissions, and key access. In production, monitoring looks for unusual activity. Response and maintenance feed new defects and regression tests back into planning. I would retain the results with the release so an auditor can see which checks ran and which exceptions received approval.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Shape 312"/>
          <p:cNvSpPr/>
          <p:nvPr>
            <p:ph type="sldImg"/>
          </p:nvPr>
        </p:nvSpPr>
        <p:spPr>
          <a:prstGeom prst="rect">
            <a:avLst/>
          </a:prstGeom>
        </p:spPr>
        <p:txBody>
          <a:bodyPr/>
          <a:lstStyle/>
          <a:p>
            <a:pPr/>
          </a:p>
        </p:txBody>
      </p:sp>
      <p:sp>
        <p:nvSpPr>
          <p:cNvPr id="313" name="Shape 313"/>
          <p:cNvSpPr/>
          <p:nvPr>
            <p:ph type="body" sz="quarter" idx="1"/>
          </p:nvPr>
        </p:nvSpPr>
        <p:spPr>
          <a:prstGeom prst="rect">
            <a:avLst/>
          </a:prstGeom>
        </p:spPr>
        <p:txBody>
          <a:bodyPr/>
          <a:lstStyle/>
          <a:p>
            <a:pPr/>
            <a:r>
              <a:t>I ran a deliberately vulnerable example for each of the ten coding standards. Clang detected lost integer precision, an overflowing string copy, an uninitialized value, and mismatched deletion. Cppcheck detected a read after release, an assertion update, an exception-path leak, and an invalid vector index. UBSan detected signed overflow. For SQL injection, the same input returned a record when joined into the query and returned none when bound as a value. These results show detection of these examples, rather than complete coverage of each rule. I would run compiler and static checks at Build, then unit tests and sanitizer builds at Verify. Before deployment, Transition checks TLS, permissions, and key access. Monitor correlates application events with the existing system logs. Confirmed violations and failed security tests block release unless the existing exception process approves the risk.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This screenshot comes from my Week Five static analysis assignment. It shows Clang reporting exception and assertion problems, including a side effect that disappears in a release build. The saved Cppcheck XML also reports assertion side effects, a conditional buffer index issue, and an uninitialized member. The tools reported different findings, which is why I would use more than one check. VS Code is the editor in this screenshot. These are Clang results, not Visual Studio results, and they do not establish complete detection of all ten standards.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Fixing these issues now reduces the chance that more code will depend on unsafe behavior. Bounds checks and parameter binding are relatively focused changes. Ownership changes and confidential computing can require more design and testing. Automation also has costs: tools need maintenance, false positives take time, and added checks can slow builds. Waiting avoids some immediate work but leaves known exposure in place. I would start with the highest-ranked defects, test the changes, and introduce broader checks in stages. The strategy still depends on good test cases and correct configuration. A clean scan cannot guarantee that an untested path or compromised account is safe.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hape 332"/>
          <p:cNvSpPr/>
          <p:nvPr>
            <p:ph type="sldImg"/>
          </p:nvPr>
        </p:nvSpPr>
        <p:spPr>
          <a:prstGeom prst="rect">
            <a:avLst/>
          </a:prstGeom>
        </p:spPr>
        <p:txBody>
          <a:bodyPr/>
          <a:lstStyle/>
          <a:p>
            <a:pPr/>
          </a:p>
        </p:txBody>
      </p:sp>
      <p:sp>
        <p:nvSpPr>
          <p:cNvPr id="333" name="Shape 333"/>
          <p:cNvSpPr/>
          <p:nvPr>
            <p:ph type="body" sz="quarter" idx="1"/>
          </p:nvPr>
        </p:nvSpPr>
        <p:spPr>
          <a:prstGeom prst="rect">
            <a:avLst/>
          </a:prstGeom>
        </p:spPr>
        <p:txBody>
          <a:bodyPr/>
          <a:lstStyle/>
          <a:p>
            <a:pPr/>
            <a:r>
              <a:t>The policy gives us a starting point, but implementation still needs evidence. I would assign an owner to each rule, verify tools with known vulnerable examples, and define which failures block release. The policy calls for key recovery and log retention, so the team still needs specific procedures and tested settings. I would also add a dependency inventory and patch workflow. The Change Healthcare attack is a useful example from my earlier case study. The Senate Finance Committee questioned the missing MFA protection on an exposed server. My recommendation is to test MFA coverage across entry points, including older systems, rather than assume a written requirement reaches every login.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Shape 338"/>
          <p:cNvSpPr/>
          <p:nvPr>
            <p:ph type="sldImg"/>
          </p:nvPr>
        </p:nvSpPr>
        <p:spPr>
          <a:prstGeom prst="rect">
            <a:avLst/>
          </a:prstGeom>
        </p:spPr>
        <p:txBody>
          <a:bodyPr/>
          <a:lstStyle/>
          <a:p>
            <a:pPr/>
          </a:p>
        </p:txBody>
      </p:sp>
      <p:sp>
        <p:nvSpPr>
          <p:cNvPr id="339" name="Shape 339"/>
          <p:cNvSpPr/>
          <p:nvPr>
            <p:ph type="body" sz="quarter" idx="1"/>
          </p:nvPr>
        </p:nvSpPr>
        <p:spPr>
          <a:prstGeom prst="rect">
            <a:avLst/>
          </a:prstGeom>
        </p:spPr>
        <p:txBody>
          <a:bodyPr/>
          <a:lstStyle/>
          <a:p>
            <a:pPr/>
            <a:r>
              <a:t>I would keep the ten coding standards as Green Pace’s shared baseline and use NIST’s Secure Software Development Framework to make the surrounding process more consistent. That means checking changes, protecting release evidence, and learning from vulnerabilities after deployment. Every repaired defect should produce a regression test when practical. Exceptions need an owner and a deadline under the existing approval process. I would retain the annual policy review and also review the policy after incidents or major changes. The overflow example shows the approach I want: define the requirement before implementation, check normal and invalid inputs, and keep running those checks as the code changes.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pic>
        <p:nvPicPr>
          <p:cNvPr id="12"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pic>
        <p:nvPicPr>
          <p:cNvPr id="13" name="Google Shape;13;p16" descr="Google Shape;13;p16"/>
          <p:cNvPicPr>
            <a:picLocks noChangeAspect="1"/>
          </p:cNvPicPr>
          <p:nvPr/>
        </p:nvPicPr>
        <p:blipFill>
          <a:blip r:embed="rId3">
            <a:extLst/>
          </a:blip>
          <a:stretch>
            <a:fillRect/>
          </a:stretch>
        </p:blipFill>
        <p:spPr>
          <a:xfrm>
            <a:off x="0" y="4375150"/>
            <a:ext cx="12192000" cy="2482850"/>
          </a:xfrm>
          <a:prstGeom prst="rect">
            <a:avLst/>
          </a:prstGeom>
          <a:ln w="12700">
            <a:miter lim="400000"/>
          </a:ln>
        </p:spPr>
      </p:pic>
      <p:sp>
        <p:nvSpPr>
          <p:cNvPr id="14" name="Title Text"/>
          <p:cNvSpPr txBox="1"/>
          <p:nvPr>
            <p:ph type="title"/>
          </p:nvPr>
        </p:nvSpPr>
        <p:spPr>
          <a:xfrm>
            <a:off x="1371600" y="1803405"/>
            <a:ext cx="9448800" cy="1825097"/>
          </a:xfrm>
          <a:prstGeom prst="rect">
            <a:avLst/>
          </a:prstGeom>
        </p:spPr>
        <p:txBody>
          <a:bodyPr anchor="b"/>
          <a:lstStyle>
            <a:lvl1pPr algn="l">
              <a:defRPr sz="6000"/>
            </a:lvl1pPr>
          </a:lstStyle>
          <a:p>
            <a:pPr/>
            <a:r>
              <a:t>Title Text</a:t>
            </a:r>
          </a:p>
        </p:txBody>
      </p:sp>
      <p:sp>
        <p:nvSpPr>
          <p:cNvPr id="15" name="Body Level One…"/>
          <p:cNvSpPr txBox="1"/>
          <p:nvPr>
            <p:ph type="body" sz="quarter" idx="1"/>
          </p:nvPr>
        </p:nvSpPr>
        <p:spPr>
          <a:xfrm>
            <a:off x="1371600" y="3632201"/>
            <a:ext cx="9448800" cy="685801"/>
          </a:xfrm>
          <a:prstGeom prst="rect">
            <a:avLst/>
          </a:prstGeom>
        </p:spPr>
        <p:txBody>
          <a:bodyPr/>
          <a:lstStyle>
            <a:lvl1pPr marL="368300" indent="-279400">
              <a:buClrTx/>
              <a:buSzTx/>
              <a:buFontTx/>
              <a:buNone/>
              <a:defRPr sz="2000"/>
            </a:lvl1pPr>
            <a:lvl2pPr marL="368300" indent="190500">
              <a:buClrTx/>
              <a:buSzTx/>
              <a:buFontTx/>
              <a:buNone/>
              <a:defRPr sz="2000"/>
            </a:lvl2pPr>
            <a:lvl3pPr marL="368300" indent="660400">
              <a:buClrTx/>
              <a:buSzTx/>
              <a:buFontTx/>
              <a:buNone/>
              <a:defRPr sz="2000"/>
            </a:lvl3pPr>
            <a:lvl4pPr marL="368300" indent="1130300">
              <a:buClrTx/>
              <a:buSzTx/>
              <a:buFontTx/>
              <a:buNone/>
              <a:defRPr sz="2000"/>
            </a:lvl4pPr>
            <a:lvl5pPr marL="368300" indent="1587500">
              <a:buClrTx/>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10575533" y="1491528"/>
            <a:ext cx="244868" cy="2438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spTree>
      <p:nvGrpSpPr>
        <p:cNvPr id="1" name=""/>
        <p:cNvGrpSpPr/>
        <p:nvPr/>
      </p:nvGrpSpPr>
      <p:grpSpPr>
        <a:xfrm>
          <a:off x="0" y="0"/>
          <a:ext cx="0" cy="0"/>
          <a:chOff x="0" y="0"/>
          <a:chExt cx="0" cy="0"/>
        </a:xfrm>
      </p:grpSpPr>
      <p:pic>
        <p:nvPicPr>
          <p:cNvPr id="23"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sp>
        <p:nvSpPr>
          <p:cNvPr id="24" name="Title Text"/>
          <p:cNvSpPr txBox="1"/>
          <p:nvPr>
            <p:ph type="title"/>
          </p:nvPr>
        </p:nvSpPr>
        <p:spPr>
          <a:xfrm>
            <a:off x="2895600" y="764373"/>
            <a:ext cx="8610600" cy="1293028"/>
          </a:xfrm>
          <a:prstGeom prst="rect">
            <a:avLst/>
          </a:prstGeom>
        </p:spPr>
        <p:txBody>
          <a:bodyPr/>
          <a:lstStyle/>
          <a:p>
            <a:pPr/>
            <a:r>
              <a:t>Title Text</a:t>
            </a:r>
          </a:p>
        </p:txBody>
      </p:sp>
      <p:sp>
        <p:nvSpPr>
          <p:cNvPr id="25" name="Body Level One…"/>
          <p:cNvSpPr txBox="1"/>
          <p:nvPr>
            <p:ph type="body" idx="1"/>
          </p:nvPr>
        </p:nvSpPr>
        <p:spPr>
          <a:xfrm>
            <a:off x="685800" y="2194560"/>
            <a:ext cx="10820400" cy="4024125"/>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pic>
        <p:nvPicPr>
          <p:cNvPr id="33" name="Google Shape;26;p18" descr="Google Shape;26;p18"/>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34" name="Title Text"/>
          <p:cNvSpPr txBox="1"/>
          <p:nvPr>
            <p:ph type="title"/>
          </p:nvPr>
        </p:nvSpPr>
        <p:spPr>
          <a:xfrm>
            <a:off x="685800" y="753532"/>
            <a:ext cx="10820400" cy="2801936"/>
          </a:xfrm>
          <a:prstGeom prst="rect">
            <a:avLst/>
          </a:prstGeom>
        </p:spPr>
        <p:txBody>
          <a:bodyPr anchor="b"/>
          <a:lstStyle/>
          <a:p>
            <a:pPr/>
            <a:r>
              <a:t>Title Text</a:t>
            </a:r>
          </a:p>
        </p:txBody>
      </p:sp>
      <p:sp>
        <p:nvSpPr>
          <p:cNvPr id="35" name="Body Level One…"/>
          <p:cNvSpPr txBox="1"/>
          <p:nvPr>
            <p:ph type="body" sz="quarter" idx="1"/>
          </p:nvPr>
        </p:nvSpPr>
        <p:spPr>
          <a:xfrm>
            <a:off x="1024467" y="3641725"/>
            <a:ext cx="10490201" cy="955675"/>
          </a:xfrm>
          <a:prstGeom prst="rect">
            <a:avLst/>
          </a:prstGeom>
        </p:spPr>
        <p:txBody>
          <a:bodyPr/>
          <a:lstStyle>
            <a:lvl1pPr marL="228600" indent="0" algn="r">
              <a:buClrTx/>
              <a:buSzTx/>
              <a:buFontTx/>
              <a:buNone/>
            </a:lvl1pPr>
            <a:lvl2pPr marL="228600" indent="457200" algn="r">
              <a:buClrTx/>
              <a:buSzTx/>
              <a:buFontTx/>
              <a:buNone/>
            </a:lvl2pPr>
            <a:lvl3pPr marL="228600" indent="914400" algn="r">
              <a:buClrTx/>
              <a:buSzTx/>
              <a:buFontTx/>
              <a:buNone/>
            </a:lvl3pPr>
            <a:lvl4pPr marL="228600" indent="1371600" algn="r">
              <a:buClrTx/>
              <a:buSzTx/>
              <a:buFontTx/>
              <a:buNone/>
            </a:lvl4pPr>
            <a:lvl5pPr marL="228600" indent="1828800" algn="r">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3" name="Title Text"/>
          <p:cNvSpPr txBox="1"/>
          <p:nvPr>
            <p:ph type="title"/>
          </p:nvPr>
        </p:nvSpPr>
        <p:spPr>
          <a:xfrm>
            <a:off x="2895600" y="764373"/>
            <a:ext cx="8610600" cy="1293028"/>
          </a:xfrm>
          <a:prstGeom prst="rect">
            <a:avLst/>
          </a:prstGeom>
        </p:spPr>
        <p:txBody>
          <a:bodyPr/>
          <a:lstStyle/>
          <a:p>
            <a:pPr/>
            <a:r>
              <a:t>Title Text</a:t>
            </a:r>
          </a:p>
        </p:txBody>
      </p:sp>
      <p:sp>
        <p:nvSpPr>
          <p:cNvPr id="44" name="Body Level One…"/>
          <p:cNvSpPr txBox="1"/>
          <p:nvPr>
            <p:ph type="body" sz="half" idx="1"/>
          </p:nvPr>
        </p:nvSpPr>
        <p:spPr>
          <a:xfrm>
            <a:off x="685800" y="2194559"/>
            <a:ext cx="5334000" cy="4024125"/>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45" name="Google Shape;35;p19"/>
          <p:cNvSpPr/>
          <p:nvPr>
            <p:ph type="body" sz="half" idx="21"/>
          </p:nvPr>
        </p:nvSpPr>
        <p:spPr>
          <a:xfrm>
            <a:off x="6172200" y="2194559"/>
            <a:ext cx="5334000" cy="4024125"/>
          </a:xfrm>
          <a:prstGeom prst="rect">
            <a:avLst/>
          </a:prstGeom>
        </p:spPr>
        <p:txBody>
          <a:bodyPr/>
          <a:lstStyle/>
          <a:p>
            <a:pPr indent="-342900"/>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3" name="Title Text"/>
          <p:cNvSpPr txBox="1"/>
          <p:nvPr>
            <p:ph type="title"/>
          </p:nvPr>
        </p:nvSpPr>
        <p:spPr>
          <a:xfrm>
            <a:off x="2895600" y="762000"/>
            <a:ext cx="8610600" cy="1295400"/>
          </a:xfrm>
          <a:prstGeom prst="rect">
            <a:avLst/>
          </a:prstGeom>
        </p:spPr>
        <p:txBody>
          <a:bodyPr/>
          <a:lstStyle/>
          <a:p>
            <a:pPr/>
            <a:r>
              <a:t>Title Text</a:t>
            </a:r>
          </a:p>
        </p:txBody>
      </p:sp>
      <p:sp>
        <p:nvSpPr>
          <p:cNvPr id="54" name="Body Level One…"/>
          <p:cNvSpPr txBox="1"/>
          <p:nvPr>
            <p:ph type="body" sz="quarter" idx="1"/>
          </p:nvPr>
        </p:nvSpPr>
        <p:spPr>
          <a:xfrm>
            <a:off x="914409" y="2183801"/>
            <a:ext cx="5079992" cy="823913"/>
          </a:xfrm>
          <a:prstGeom prst="rect">
            <a:avLst/>
          </a:prstGeom>
        </p:spPr>
        <p:txBody>
          <a:bodyPr anchor="b"/>
          <a:lstStyle>
            <a:lvl1pPr marL="228600" indent="0">
              <a:buClrTx/>
              <a:buSzTx/>
              <a:buFontTx/>
              <a:buNone/>
              <a:defRPr sz="2800"/>
            </a:lvl1pPr>
            <a:lvl2pPr marL="228600" indent="457200">
              <a:buClrTx/>
              <a:buSzTx/>
              <a:buFontTx/>
              <a:buNone/>
              <a:defRPr sz="2800"/>
            </a:lvl2pPr>
            <a:lvl3pPr marL="228600" indent="914400">
              <a:buClrTx/>
              <a:buSzTx/>
              <a:buFontTx/>
              <a:buNone/>
              <a:defRPr sz="2800"/>
            </a:lvl3pPr>
            <a:lvl4pPr marL="228600" indent="1371600">
              <a:buClrTx/>
              <a:buSzTx/>
              <a:buFontTx/>
              <a:buNone/>
              <a:defRPr sz="2800"/>
            </a:lvl4pPr>
            <a:lvl5pPr marL="228600" indent="1828800">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55" name="Google Shape;42;p20"/>
          <p:cNvSpPr/>
          <p:nvPr>
            <p:ph type="body" sz="quarter" idx="21"/>
          </p:nvPr>
        </p:nvSpPr>
        <p:spPr>
          <a:xfrm>
            <a:off x="685800" y="3132665"/>
            <a:ext cx="5311775" cy="3086020"/>
          </a:xfrm>
          <a:prstGeom prst="rect">
            <a:avLst/>
          </a:prstGeom>
        </p:spPr>
        <p:txBody>
          <a:bodyPr/>
          <a:lstStyle/>
          <a:p>
            <a:pPr indent="-342900"/>
          </a:p>
        </p:txBody>
      </p:sp>
      <p:sp>
        <p:nvSpPr>
          <p:cNvPr id="56" name="Google Shape;43;p20"/>
          <p:cNvSpPr/>
          <p:nvPr>
            <p:ph type="body" sz="quarter" idx="22"/>
          </p:nvPr>
        </p:nvSpPr>
        <p:spPr>
          <a:xfrm>
            <a:off x="6400800" y="2183801"/>
            <a:ext cx="5105400" cy="823913"/>
          </a:xfrm>
          <a:prstGeom prst="rect">
            <a:avLst/>
          </a:prstGeom>
        </p:spPr>
        <p:txBody>
          <a:bodyPr anchor="b"/>
          <a:lstStyle/>
          <a:p>
            <a:pPr marL="228600" indent="0">
              <a:buClrTx/>
              <a:buSzTx/>
              <a:buFontTx/>
              <a:buNone/>
              <a:defRPr sz="2800"/>
            </a:pPr>
          </a:p>
        </p:txBody>
      </p:sp>
      <p:sp>
        <p:nvSpPr>
          <p:cNvPr id="57" name="Google Shape;44;p20"/>
          <p:cNvSpPr/>
          <p:nvPr>
            <p:ph type="body" sz="quarter" idx="23"/>
          </p:nvPr>
        </p:nvSpPr>
        <p:spPr>
          <a:xfrm>
            <a:off x="6172200" y="3132665"/>
            <a:ext cx="5334000" cy="3086020"/>
          </a:xfrm>
          <a:prstGeom prst="rect">
            <a:avLst/>
          </a:prstGeom>
        </p:spPr>
        <p:txBody>
          <a:bodyPr/>
          <a:lstStyle/>
          <a:p>
            <a:pPr indent="-342900"/>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5" name="Title Text"/>
          <p:cNvSpPr txBox="1"/>
          <p:nvPr>
            <p:ph type="title"/>
          </p:nvPr>
        </p:nvSpPr>
        <p:spPr>
          <a:xfrm>
            <a:off x="2895600" y="764373"/>
            <a:ext cx="8610600" cy="1293028"/>
          </a:xfrm>
          <a:prstGeom prst="rect">
            <a:avLst/>
          </a:prstGeom>
        </p:spPr>
        <p:txBody>
          <a:bodyPr/>
          <a:lstStyle/>
          <a:p>
            <a:pPr/>
            <a:r>
              <a:t>Title Text</a:t>
            </a:r>
          </a:p>
        </p:txBody>
      </p:sp>
      <p:sp>
        <p:nvSpPr>
          <p:cNvPr id="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80" name="Title Text"/>
          <p:cNvSpPr txBox="1"/>
          <p:nvPr>
            <p:ph type="title"/>
          </p:nvPr>
        </p:nvSpPr>
        <p:spPr>
          <a:xfrm>
            <a:off x="685800" y="1524000"/>
            <a:ext cx="4114800" cy="1600200"/>
          </a:xfrm>
          <a:prstGeom prst="rect">
            <a:avLst/>
          </a:prstGeom>
        </p:spPr>
        <p:txBody>
          <a:bodyPr anchor="b"/>
          <a:lstStyle>
            <a:lvl1pPr algn="l">
              <a:defRPr sz="3200"/>
            </a:lvl1pPr>
          </a:lstStyle>
          <a:p>
            <a:pPr/>
            <a:r>
              <a:t>Title Text</a:t>
            </a:r>
          </a:p>
        </p:txBody>
      </p:sp>
      <p:sp>
        <p:nvSpPr>
          <p:cNvPr id="81" name="Body Level One…"/>
          <p:cNvSpPr txBox="1"/>
          <p:nvPr>
            <p:ph type="body" idx="1"/>
          </p:nvPr>
        </p:nvSpPr>
        <p:spPr>
          <a:xfrm>
            <a:off x="4995581" y="746759"/>
            <a:ext cx="6510619" cy="5471925"/>
          </a:xfrm>
          <a:prstGeom prst="rect">
            <a:avLst/>
          </a:prstGeom>
        </p:spPr>
        <p:txBody>
          <a:bodyPr anchor="ct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82" name="Google Shape;60;p23"/>
          <p:cNvSpPr/>
          <p:nvPr>
            <p:ph type="body" sz="quarter" idx="21"/>
          </p:nvPr>
        </p:nvSpPr>
        <p:spPr>
          <a:xfrm>
            <a:off x="685800" y="3124199"/>
            <a:ext cx="4114800" cy="3094485"/>
          </a:xfrm>
          <a:prstGeom prst="rect">
            <a:avLst/>
          </a:prstGeom>
        </p:spPr>
        <p:txBody>
          <a:bodyPr/>
          <a:lstStyle/>
          <a:p>
            <a:pPr marL="228600" indent="0">
              <a:buClrTx/>
              <a:buSzTx/>
              <a:buFontTx/>
              <a:buNone/>
              <a:defRPr sz="1600"/>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90" name="Title Text"/>
          <p:cNvSpPr txBox="1"/>
          <p:nvPr>
            <p:ph type="title"/>
          </p:nvPr>
        </p:nvSpPr>
        <p:spPr>
          <a:xfrm>
            <a:off x="685800" y="1524000"/>
            <a:ext cx="6873241" cy="1600200"/>
          </a:xfrm>
          <a:prstGeom prst="rect">
            <a:avLst/>
          </a:prstGeom>
        </p:spPr>
        <p:txBody>
          <a:bodyPr anchor="b"/>
          <a:lstStyle>
            <a:lvl1pPr algn="l">
              <a:defRPr sz="3200"/>
            </a:lvl1pPr>
          </a:lstStyle>
          <a:p>
            <a:pPr/>
            <a:r>
              <a:t>Title Text</a:t>
            </a:r>
          </a:p>
        </p:txBody>
      </p:sp>
      <p:sp>
        <p:nvSpPr>
          <p:cNvPr id="91" name="Google Shape;66;p24"/>
          <p:cNvSpPr/>
          <p:nvPr>
            <p:ph type="pic" sz="half" idx="21"/>
          </p:nvPr>
        </p:nvSpPr>
        <p:spPr>
          <a:xfrm>
            <a:off x="7861237" y="751241"/>
            <a:ext cx="3644963" cy="5467444"/>
          </a:xfrm>
          <a:prstGeom prst="rect">
            <a:avLst/>
          </a:prstGeom>
        </p:spPr>
        <p:txBody>
          <a:bodyPr lIns="91439" tIns="45719" rIns="91439" bIns="45719">
            <a:noAutofit/>
          </a:bodyPr>
          <a:lstStyle/>
          <a:p>
            <a:pPr/>
          </a:p>
        </p:txBody>
      </p:sp>
      <p:sp>
        <p:nvSpPr>
          <p:cNvPr id="92" name="Body Level One…"/>
          <p:cNvSpPr txBox="1"/>
          <p:nvPr>
            <p:ph type="body" sz="half" idx="1"/>
          </p:nvPr>
        </p:nvSpPr>
        <p:spPr>
          <a:xfrm>
            <a:off x="685800" y="3124199"/>
            <a:ext cx="6873241" cy="3094485"/>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anoramic Picture with Caption">
    <p:spTree>
      <p:nvGrpSpPr>
        <p:cNvPr id="1" name=""/>
        <p:cNvGrpSpPr/>
        <p:nvPr/>
      </p:nvGrpSpPr>
      <p:grpSpPr>
        <a:xfrm>
          <a:off x="0" y="0"/>
          <a:ext cx="0" cy="0"/>
          <a:chOff x="0" y="0"/>
          <a:chExt cx="0" cy="0"/>
        </a:xfrm>
      </p:grpSpPr>
      <p:sp>
        <p:nvSpPr>
          <p:cNvPr id="100" name="Title Text"/>
          <p:cNvSpPr txBox="1"/>
          <p:nvPr>
            <p:ph type="title"/>
          </p:nvPr>
        </p:nvSpPr>
        <p:spPr>
          <a:xfrm>
            <a:off x="685776" y="4697360"/>
            <a:ext cx="10822035" cy="819356"/>
          </a:xfrm>
          <a:prstGeom prst="rect">
            <a:avLst/>
          </a:prstGeom>
        </p:spPr>
        <p:txBody>
          <a:bodyPr anchor="b"/>
          <a:lstStyle>
            <a:lvl1pPr algn="l">
              <a:defRPr sz="3200"/>
            </a:lvl1pPr>
          </a:lstStyle>
          <a:p>
            <a:pPr/>
            <a:r>
              <a:t>Title Text</a:t>
            </a:r>
          </a:p>
        </p:txBody>
      </p:sp>
      <p:sp>
        <p:nvSpPr>
          <p:cNvPr id="101" name="Google Shape;73;p25"/>
          <p:cNvSpPr/>
          <p:nvPr>
            <p:ph type="pic" idx="21"/>
          </p:nvPr>
        </p:nvSpPr>
        <p:spPr>
          <a:xfrm>
            <a:off x="681726" y="941439"/>
            <a:ext cx="10821842" cy="3478161"/>
          </a:xfrm>
          <a:prstGeom prst="rect">
            <a:avLst/>
          </a:prstGeom>
        </p:spPr>
        <p:txBody>
          <a:bodyPr lIns="91439" tIns="45719" rIns="91439" bIns="45719">
            <a:noAutofit/>
          </a:bodyPr>
          <a:lstStyle/>
          <a:p>
            <a:pPr/>
          </a:p>
        </p:txBody>
      </p:sp>
      <p:sp>
        <p:nvSpPr>
          <p:cNvPr id="102" name="Body Level One…"/>
          <p:cNvSpPr txBox="1"/>
          <p:nvPr>
            <p:ph type="body" sz="quarter" idx="1"/>
          </p:nvPr>
        </p:nvSpPr>
        <p:spPr>
          <a:xfrm>
            <a:off x="685800" y="5516714"/>
            <a:ext cx="10820400" cy="701970"/>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aption">
    <p:spTree>
      <p:nvGrpSpPr>
        <p:cNvPr id="1" name=""/>
        <p:cNvGrpSpPr/>
        <p:nvPr/>
      </p:nvGrpSpPr>
      <p:grpSpPr>
        <a:xfrm>
          <a:off x="0" y="0"/>
          <a:ext cx="0" cy="0"/>
          <a:chOff x="0" y="0"/>
          <a:chExt cx="0" cy="0"/>
        </a:xfrm>
      </p:grpSpPr>
      <p:pic>
        <p:nvPicPr>
          <p:cNvPr id="110" name="Google Shape;79;p26" descr="Google Shape;79;p26"/>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11" name="Title Text"/>
          <p:cNvSpPr txBox="1"/>
          <p:nvPr>
            <p:ph type="title"/>
          </p:nvPr>
        </p:nvSpPr>
        <p:spPr>
          <a:xfrm>
            <a:off x="685800" y="753532"/>
            <a:ext cx="10820400" cy="2802467"/>
          </a:xfrm>
          <a:prstGeom prst="rect">
            <a:avLst/>
          </a:prstGeom>
        </p:spPr>
        <p:txBody>
          <a:bodyPr/>
          <a:lstStyle>
            <a:lvl1pPr algn="l">
              <a:defRPr sz="3200"/>
            </a:lvl1pPr>
          </a:lstStyle>
          <a:p>
            <a:pPr/>
            <a:r>
              <a:t>Title Text</a:t>
            </a:r>
          </a:p>
        </p:txBody>
      </p:sp>
      <p:sp>
        <p:nvSpPr>
          <p:cNvPr id="112" name="Body Level One…"/>
          <p:cNvSpPr txBox="1"/>
          <p:nvPr>
            <p:ph type="body" sz="quarter" idx="1"/>
          </p:nvPr>
        </p:nvSpPr>
        <p:spPr>
          <a:xfrm>
            <a:off x="1024467" y="3649133"/>
            <a:ext cx="10130516" cy="999068"/>
          </a:xfrm>
          <a:prstGeom prst="rect">
            <a:avLst/>
          </a:prstGeom>
        </p:spPr>
        <p:txBody>
          <a:bodyPr anchor="ct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with Caption">
    <p:spTree>
      <p:nvGrpSpPr>
        <p:cNvPr id="1" name=""/>
        <p:cNvGrpSpPr/>
        <p:nvPr/>
      </p:nvGrpSpPr>
      <p:grpSpPr>
        <a:xfrm>
          <a:off x="0" y="0"/>
          <a:ext cx="0" cy="0"/>
          <a:chOff x="0" y="0"/>
          <a:chExt cx="0" cy="0"/>
        </a:xfrm>
      </p:grpSpPr>
      <p:pic>
        <p:nvPicPr>
          <p:cNvPr id="120" name="Google Shape;86;p27" descr="Google Shape;86;p27"/>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21" name="Title Text"/>
          <p:cNvSpPr txBox="1"/>
          <p:nvPr>
            <p:ph type="title"/>
          </p:nvPr>
        </p:nvSpPr>
        <p:spPr>
          <a:xfrm>
            <a:off x="1024467" y="753532"/>
            <a:ext cx="10151534" cy="2604497"/>
          </a:xfrm>
          <a:prstGeom prst="rect">
            <a:avLst/>
          </a:prstGeom>
        </p:spPr>
        <p:txBody>
          <a:bodyPr/>
          <a:lstStyle>
            <a:lvl1pPr algn="l">
              <a:defRPr sz="3200"/>
            </a:lvl1pPr>
          </a:lstStyle>
          <a:p>
            <a:pPr/>
            <a:r>
              <a:t>Title Text</a:t>
            </a:r>
          </a:p>
        </p:txBody>
      </p:sp>
      <p:sp>
        <p:nvSpPr>
          <p:cNvPr id="122" name="Body Level One…"/>
          <p:cNvSpPr txBox="1"/>
          <p:nvPr>
            <p:ph type="body" sz="quarter" idx="1"/>
          </p:nvPr>
        </p:nvSpPr>
        <p:spPr>
          <a:xfrm>
            <a:off x="1303864" y="3365555"/>
            <a:ext cx="9592738" cy="444444"/>
          </a:xfrm>
          <a:prstGeom prst="rect">
            <a:avLst/>
          </a:prstGeom>
        </p:spPr>
        <p:txBody>
          <a:bodyPr/>
          <a:lstStyle>
            <a:lvl1pPr marL="228600" indent="0">
              <a:buClrTx/>
              <a:buSzTx/>
              <a:buFontTx/>
              <a:buNone/>
              <a:defRPr sz="1400"/>
            </a:lvl1pPr>
            <a:lvl2pPr marL="228600" indent="457200">
              <a:buClrTx/>
              <a:buSzTx/>
              <a:buFontTx/>
              <a:buNone/>
              <a:defRPr sz="1400"/>
            </a:lvl2pPr>
            <a:lvl3pPr marL="228600" indent="914400">
              <a:buClrTx/>
              <a:buSzTx/>
              <a:buFontTx/>
              <a:buNone/>
              <a:defRPr sz="1400"/>
            </a:lvl3pPr>
            <a:lvl4pPr marL="228600" indent="1371600">
              <a:buClrTx/>
              <a:buSzTx/>
              <a:buFontTx/>
              <a:buNone/>
              <a:defRPr sz="1400"/>
            </a:lvl4pPr>
            <a:lvl5pPr marL="228600" indent="1828800">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23" name="Google Shape;89;p27"/>
          <p:cNvSpPr/>
          <p:nvPr>
            <p:ph type="body" sz="quarter" idx="21"/>
          </p:nvPr>
        </p:nvSpPr>
        <p:spPr>
          <a:xfrm>
            <a:off x="1024467" y="3959862"/>
            <a:ext cx="10151534" cy="679872"/>
          </a:xfrm>
          <a:prstGeom prst="rect">
            <a:avLst/>
          </a:prstGeom>
        </p:spPr>
        <p:txBody>
          <a:bodyPr anchor="ctr"/>
          <a:lstStyle/>
          <a:p>
            <a:pPr marL="228600" indent="0">
              <a:buClrTx/>
              <a:buSzTx/>
              <a:buFontTx/>
              <a:buNone/>
              <a:defRPr sz="1600"/>
            </a:pPr>
          </a:p>
        </p:txBody>
      </p:sp>
      <p:sp>
        <p:nvSpPr>
          <p:cNvPr id="124" name="Google Shape;93;p27"/>
          <p:cNvSpPr txBox="1"/>
          <p:nvPr/>
        </p:nvSpPr>
        <p:spPr>
          <a:xfrm>
            <a:off x="521975" y="557837"/>
            <a:ext cx="518151" cy="1336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8000">
                <a:solidFill>
                  <a:srgbClr val="FFFFFF"/>
                </a:solidFill>
                <a:latin typeface="Century Gothic"/>
                <a:ea typeface="Century Gothic"/>
                <a:cs typeface="Century Gothic"/>
                <a:sym typeface="Century Gothic"/>
              </a:defRPr>
            </a:lvl1pPr>
          </a:lstStyle>
          <a:p>
            <a:pPr/>
            <a:r>
              <a:t>“</a:t>
            </a:r>
          </a:p>
        </p:txBody>
      </p:sp>
      <p:sp>
        <p:nvSpPr>
          <p:cNvPr id="125" name="Google Shape;94;p27"/>
          <p:cNvSpPr txBox="1"/>
          <p:nvPr/>
        </p:nvSpPr>
        <p:spPr>
          <a:xfrm>
            <a:off x="11029955" y="2325677"/>
            <a:ext cx="518151" cy="1336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8000">
                <a:solidFill>
                  <a:srgbClr val="FFFFFF"/>
                </a:solidFill>
                <a:latin typeface="Century Gothic"/>
                <a:ea typeface="Century Gothic"/>
                <a:cs typeface="Century Gothic"/>
                <a:sym typeface="Century Gothic"/>
              </a:defRPr>
            </a:lvl1pPr>
          </a:lstStyle>
          <a:p>
            <a:pPr/>
            <a:r>
              <a:t>”</a:t>
            </a:r>
          </a:p>
        </p:txBody>
      </p:sp>
      <p:sp>
        <p:nvSpPr>
          <p:cNvPr id="1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Name Card">
    <p:spTree>
      <p:nvGrpSpPr>
        <p:cNvPr id="1" name=""/>
        <p:cNvGrpSpPr/>
        <p:nvPr/>
      </p:nvGrpSpPr>
      <p:grpSpPr>
        <a:xfrm>
          <a:off x="0" y="0"/>
          <a:ext cx="0" cy="0"/>
          <a:chOff x="0" y="0"/>
          <a:chExt cx="0" cy="0"/>
        </a:xfrm>
      </p:grpSpPr>
      <p:pic>
        <p:nvPicPr>
          <p:cNvPr id="133" name="Google Shape;96;p28" descr="Google Shape;96;p28"/>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34" name="Title Text"/>
          <p:cNvSpPr txBox="1"/>
          <p:nvPr>
            <p:ph type="title"/>
          </p:nvPr>
        </p:nvSpPr>
        <p:spPr>
          <a:xfrm>
            <a:off x="1024495" y="1124701"/>
            <a:ext cx="10146187" cy="2511836"/>
          </a:xfrm>
          <a:prstGeom prst="rect">
            <a:avLst/>
          </a:prstGeom>
        </p:spPr>
        <p:txBody>
          <a:bodyPr anchor="b"/>
          <a:lstStyle>
            <a:lvl1pPr algn="l">
              <a:defRPr sz="3200"/>
            </a:lvl1pPr>
          </a:lstStyle>
          <a:p>
            <a:pPr/>
            <a:r>
              <a:t>Title Text</a:t>
            </a:r>
          </a:p>
        </p:txBody>
      </p:sp>
      <p:sp>
        <p:nvSpPr>
          <p:cNvPr id="135" name="Body Level One…"/>
          <p:cNvSpPr txBox="1"/>
          <p:nvPr>
            <p:ph type="body" sz="quarter" idx="1"/>
          </p:nvPr>
        </p:nvSpPr>
        <p:spPr>
          <a:xfrm>
            <a:off x="1024467" y="3648314"/>
            <a:ext cx="10144654" cy="999886"/>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Column">
    <p:spTree>
      <p:nvGrpSpPr>
        <p:cNvPr id="1" name=""/>
        <p:cNvGrpSpPr/>
        <p:nvPr/>
      </p:nvGrpSpPr>
      <p:grpSpPr>
        <a:xfrm>
          <a:off x="0" y="0"/>
          <a:ext cx="0" cy="0"/>
          <a:chOff x="0" y="0"/>
          <a:chExt cx="0" cy="0"/>
        </a:xfrm>
      </p:grpSpPr>
      <p:sp>
        <p:nvSpPr>
          <p:cNvPr id="143" name="Title Text"/>
          <p:cNvSpPr txBox="1"/>
          <p:nvPr>
            <p:ph type="title"/>
          </p:nvPr>
        </p:nvSpPr>
        <p:spPr>
          <a:xfrm>
            <a:off x="2895600" y="761998"/>
            <a:ext cx="8610600" cy="1303869"/>
          </a:xfrm>
          <a:prstGeom prst="rect">
            <a:avLst/>
          </a:prstGeom>
        </p:spPr>
        <p:txBody>
          <a:bodyPr/>
          <a:lstStyle/>
          <a:p>
            <a:pPr/>
            <a:r>
              <a:t>Title Text</a:t>
            </a:r>
          </a:p>
        </p:txBody>
      </p:sp>
      <p:sp>
        <p:nvSpPr>
          <p:cNvPr id="144" name="Body Level One…"/>
          <p:cNvSpPr txBox="1"/>
          <p:nvPr>
            <p:ph type="body" sz="quarter" idx="1"/>
          </p:nvPr>
        </p:nvSpPr>
        <p:spPr>
          <a:xfrm>
            <a:off x="685800" y="2202079"/>
            <a:ext cx="3456433" cy="617321"/>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5" name="Google Shape;105;p29"/>
          <p:cNvSpPr/>
          <p:nvPr>
            <p:ph type="body" sz="quarter" idx="21"/>
          </p:nvPr>
        </p:nvSpPr>
        <p:spPr>
          <a:xfrm>
            <a:off x="685798" y="2904564"/>
            <a:ext cx="3456434" cy="3314132"/>
          </a:xfrm>
          <a:prstGeom prst="rect">
            <a:avLst/>
          </a:prstGeom>
        </p:spPr>
        <p:txBody>
          <a:bodyPr/>
          <a:lstStyle/>
          <a:p>
            <a:pPr marL="228600" indent="0">
              <a:buClrTx/>
              <a:buSzTx/>
              <a:buFontTx/>
              <a:buNone/>
              <a:defRPr sz="1400"/>
            </a:pPr>
          </a:p>
        </p:txBody>
      </p:sp>
      <p:sp>
        <p:nvSpPr>
          <p:cNvPr id="146" name="Google Shape;106;p29"/>
          <p:cNvSpPr/>
          <p:nvPr>
            <p:ph type="body" sz="quarter" idx="22"/>
          </p:nvPr>
        </p:nvSpPr>
        <p:spPr>
          <a:xfrm>
            <a:off x="4368800" y="2201333"/>
            <a:ext cx="3456433" cy="626535"/>
          </a:xfrm>
          <a:prstGeom prst="rect">
            <a:avLst/>
          </a:prstGeom>
        </p:spPr>
        <p:txBody>
          <a:bodyPr anchor="b"/>
          <a:lstStyle/>
          <a:p>
            <a:pPr marL="228600" indent="0">
              <a:buClrTx/>
              <a:buSzTx/>
              <a:buFontTx/>
              <a:buNone/>
              <a:defRPr sz="2400"/>
            </a:pPr>
          </a:p>
        </p:txBody>
      </p:sp>
      <p:sp>
        <p:nvSpPr>
          <p:cNvPr id="147" name="Google Shape;107;p29"/>
          <p:cNvSpPr/>
          <p:nvPr>
            <p:ph type="body" sz="quarter" idx="23"/>
          </p:nvPr>
        </p:nvSpPr>
        <p:spPr>
          <a:xfrm>
            <a:off x="4366857" y="2904066"/>
            <a:ext cx="3456433" cy="3314618"/>
          </a:xfrm>
          <a:prstGeom prst="rect">
            <a:avLst/>
          </a:prstGeom>
        </p:spPr>
        <p:txBody>
          <a:bodyPr/>
          <a:lstStyle/>
          <a:p>
            <a:pPr marL="228600" indent="0">
              <a:buClrTx/>
              <a:buSzTx/>
              <a:buFontTx/>
              <a:buNone/>
              <a:defRPr sz="1400"/>
            </a:pPr>
          </a:p>
        </p:txBody>
      </p:sp>
      <p:sp>
        <p:nvSpPr>
          <p:cNvPr id="148" name="Google Shape;108;p29"/>
          <p:cNvSpPr/>
          <p:nvPr>
            <p:ph type="body" sz="quarter" idx="24"/>
          </p:nvPr>
        </p:nvSpPr>
        <p:spPr>
          <a:xfrm>
            <a:off x="8051800" y="2192865"/>
            <a:ext cx="3456433" cy="626535"/>
          </a:xfrm>
          <a:prstGeom prst="rect">
            <a:avLst/>
          </a:prstGeom>
        </p:spPr>
        <p:txBody>
          <a:bodyPr anchor="b"/>
          <a:lstStyle/>
          <a:p>
            <a:pPr marL="228600" indent="0">
              <a:buClrTx/>
              <a:buSzTx/>
              <a:buFontTx/>
              <a:buNone/>
              <a:defRPr sz="2400"/>
            </a:pPr>
          </a:p>
        </p:txBody>
      </p:sp>
      <p:sp>
        <p:nvSpPr>
          <p:cNvPr id="149" name="Google Shape;109;p29"/>
          <p:cNvSpPr/>
          <p:nvPr>
            <p:ph type="body" sz="quarter" idx="25"/>
          </p:nvPr>
        </p:nvSpPr>
        <p:spPr>
          <a:xfrm>
            <a:off x="8051800" y="2904564"/>
            <a:ext cx="3456433" cy="3314132"/>
          </a:xfrm>
          <a:prstGeom prst="rect">
            <a:avLst/>
          </a:prstGeom>
        </p:spPr>
        <p:txBody>
          <a:bodyPr/>
          <a:lstStyle/>
          <a:p>
            <a:pPr marL="228600" indent="0">
              <a:buClrTx/>
              <a:buSzTx/>
              <a:buFontTx/>
              <a:buNone/>
              <a:defRPr sz="1400"/>
            </a:pPr>
          </a:p>
        </p:txBody>
      </p:sp>
      <p:sp>
        <p:nvSpPr>
          <p:cNvPr id="1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Picture Column">
    <p:spTree>
      <p:nvGrpSpPr>
        <p:cNvPr id="1" name=""/>
        <p:cNvGrpSpPr/>
        <p:nvPr/>
      </p:nvGrpSpPr>
      <p:grpSpPr>
        <a:xfrm>
          <a:off x="0" y="0"/>
          <a:ext cx="0" cy="0"/>
          <a:chOff x="0" y="0"/>
          <a:chExt cx="0" cy="0"/>
        </a:xfrm>
      </p:grpSpPr>
      <p:sp>
        <p:nvSpPr>
          <p:cNvPr id="157" name="Title Text"/>
          <p:cNvSpPr txBox="1"/>
          <p:nvPr>
            <p:ph type="title"/>
          </p:nvPr>
        </p:nvSpPr>
        <p:spPr>
          <a:xfrm>
            <a:off x="2895600" y="762000"/>
            <a:ext cx="8610600" cy="1295400"/>
          </a:xfrm>
          <a:prstGeom prst="rect">
            <a:avLst/>
          </a:prstGeom>
        </p:spPr>
        <p:txBody>
          <a:bodyPr/>
          <a:lstStyle/>
          <a:p>
            <a:pPr/>
            <a:r>
              <a:t>Title Text</a:t>
            </a:r>
          </a:p>
        </p:txBody>
      </p:sp>
      <p:sp>
        <p:nvSpPr>
          <p:cNvPr id="158" name="Body Level One…"/>
          <p:cNvSpPr txBox="1"/>
          <p:nvPr>
            <p:ph type="body" sz="quarter" idx="1"/>
          </p:nvPr>
        </p:nvSpPr>
        <p:spPr>
          <a:xfrm>
            <a:off x="688617" y="4191000"/>
            <a:ext cx="3451583" cy="682766"/>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59" name="Google Shape;116;p30"/>
          <p:cNvSpPr/>
          <p:nvPr>
            <p:ph type="pic" sz="quarter" idx="21"/>
          </p:nvPr>
        </p:nvSpPr>
        <p:spPr>
          <a:xfrm>
            <a:off x="688617" y="2362200"/>
            <a:ext cx="3451583"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0" name="Google Shape;117;p30"/>
          <p:cNvSpPr/>
          <p:nvPr>
            <p:ph type="body" sz="quarter" idx="22"/>
          </p:nvPr>
        </p:nvSpPr>
        <p:spPr>
          <a:xfrm>
            <a:off x="688617" y="4873764"/>
            <a:ext cx="3451583" cy="1344922"/>
          </a:xfrm>
          <a:prstGeom prst="rect">
            <a:avLst/>
          </a:prstGeom>
        </p:spPr>
        <p:txBody>
          <a:bodyPr/>
          <a:lstStyle/>
          <a:p>
            <a:pPr marL="228600" indent="0">
              <a:buClrTx/>
              <a:buSzTx/>
              <a:buFontTx/>
              <a:buNone/>
              <a:defRPr sz="1400"/>
            </a:pPr>
          </a:p>
        </p:txBody>
      </p:sp>
      <p:sp>
        <p:nvSpPr>
          <p:cNvPr id="161" name="Google Shape;118;p30"/>
          <p:cNvSpPr/>
          <p:nvPr>
            <p:ph type="body" sz="quarter" idx="23"/>
          </p:nvPr>
        </p:nvSpPr>
        <p:spPr>
          <a:xfrm>
            <a:off x="4374262" y="4191000"/>
            <a:ext cx="3448935" cy="682766"/>
          </a:xfrm>
          <a:prstGeom prst="rect">
            <a:avLst/>
          </a:prstGeom>
        </p:spPr>
        <p:txBody>
          <a:bodyPr anchor="b"/>
          <a:lstStyle/>
          <a:p>
            <a:pPr marL="228600" indent="0">
              <a:buClrTx/>
              <a:buSzTx/>
              <a:buFontTx/>
              <a:buNone/>
              <a:defRPr sz="2400"/>
            </a:pPr>
          </a:p>
        </p:txBody>
      </p:sp>
      <p:sp>
        <p:nvSpPr>
          <p:cNvPr id="162" name="Google Shape;119;p30"/>
          <p:cNvSpPr/>
          <p:nvPr>
            <p:ph type="pic" sz="quarter" idx="24"/>
          </p:nvPr>
        </p:nvSpPr>
        <p:spPr>
          <a:xfrm>
            <a:off x="4374262" y="2362200"/>
            <a:ext cx="3448937"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3" name="Google Shape;120;p30"/>
          <p:cNvSpPr/>
          <p:nvPr>
            <p:ph type="body" sz="quarter" idx="25"/>
          </p:nvPr>
        </p:nvSpPr>
        <p:spPr>
          <a:xfrm>
            <a:off x="4374264" y="4873762"/>
            <a:ext cx="3448935" cy="1344922"/>
          </a:xfrm>
          <a:prstGeom prst="rect">
            <a:avLst/>
          </a:prstGeom>
        </p:spPr>
        <p:txBody>
          <a:bodyPr/>
          <a:lstStyle/>
          <a:p>
            <a:pPr marL="228600" indent="0">
              <a:buClrTx/>
              <a:buSzTx/>
              <a:buFontTx/>
              <a:buNone/>
              <a:defRPr sz="1400"/>
            </a:pPr>
          </a:p>
        </p:txBody>
      </p:sp>
      <p:sp>
        <p:nvSpPr>
          <p:cNvPr id="164" name="Google Shape;121;p30"/>
          <p:cNvSpPr/>
          <p:nvPr>
            <p:ph type="body" sz="quarter" idx="26"/>
          </p:nvPr>
        </p:nvSpPr>
        <p:spPr>
          <a:xfrm>
            <a:off x="8049731" y="4191000"/>
            <a:ext cx="3456469" cy="682766"/>
          </a:xfrm>
          <a:prstGeom prst="rect">
            <a:avLst/>
          </a:prstGeom>
        </p:spPr>
        <p:txBody>
          <a:bodyPr anchor="b"/>
          <a:lstStyle/>
          <a:p>
            <a:pPr marL="228600" indent="0">
              <a:buClrTx/>
              <a:buSzTx/>
              <a:buFontTx/>
              <a:buNone/>
              <a:defRPr sz="2400"/>
            </a:pPr>
          </a:p>
        </p:txBody>
      </p:sp>
      <p:sp>
        <p:nvSpPr>
          <p:cNvPr id="165" name="Google Shape;122;p30"/>
          <p:cNvSpPr/>
          <p:nvPr>
            <p:ph type="pic" sz="quarter" idx="27"/>
          </p:nvPr>
        </p:nvSpPr>
        <p:spPr>
          <a:xfrm>
            <a:off x="8049855" y="2362200"/>
            <a:ext cx="3447879" cy="1524000"/>
          </a:xfrm>
          <a:prstGeom prst="rect">
            <a:avLst/>
          </a:prstGeom>
          <a:effectLst>
            <a:outerShdw sx="100000" sy="100000" kx="0" ky="0" algn="b" rotWithShape="0" blurRad="50800" dist="50800" dir="5400000">
              <a:srgbClr val="000000">
                <a:alpha val="41960"/>
              </a:srgbClr>
            </a:outerShdw>
          </a:effectLst>
        </p:spPr>
        <p:txBody>
          <a:bodyPr lIns="91439" tIns="45719" rIns="91439" bIns="45719">
            <a:noAutofit/>
          </a:bodyPr>
          <a:lstStyle/>
          <a:p>
            <a:pPr/>
          </a:p>
        </p:txBody>
      </p:sp>
      <p:sp>
        <p:nvSpPr>
          <p:cNvPr id="166" name="Google Shape;123;p30"/>
          <p:cNvSpPr/>
          <p:nvPr>
            <p:ph type="body" sz="quarter" idx="28"/>
          </p:nvPr>
        </p:nvSpPr>
        <p:spPr>
          <a:xfrm>
            <a:off x="8049731" y="4873761"/>
            <a:ext cx="3452446" cy="1344922"/>
          </a:xfrm>
          <a:prstGeom prst="rect">
            <a:avLst/>
          </a:prstGeom>
        </p:spPr>
        <p:txBody>
          <a:bodyPr/>
          <a:lstStyle/>
          <a:p>
            <a:pPr marL="228600" indent="0">
              <a:buClrTx/>
              <a:buSzTx/>
              <a:buFontTx/>
              <a:buNone/>
              <a:defRPr sz="1400"/>
            </a:pPr>
          </a:p>
        </p:txBody>
      </p:sp>
      <p:sp>
        <p:nvSpPr>
          <p:cNvPr id="1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174" name="Title Text"/>
          <p:cNvSpPr txBox="1"/>
          <p:nvPr>
            <p:ph type="title"/>
          </p:nvPr>
        </p:nvSpPr>
        <p:spPr>
          <a:xfrm>
            <a:off x="2895600" y="764373"/>
            <a:ext cx="8610600" cy="1293028"/>
          </a:xfrm>
          <a:prstGeom prst="rect">
            <a:avLst/>
          </a:prstGeom>
        </p:spPr>
        <p:txBody>
          <a:bodyPr/>
          <a:lstStyle/>
          <a:p>
            <a:pPr/>
            <a:r>
              <a:t>Title Text</a:t>
            </a:r>
          </a:p>
        </p:txBody>
      </p:sp>
      <p:sp>
        <p:nvSpPr>
          <p:cNvPr id="175" name="Body Level One…"/>
          <p:cNvSpPr txBox="1"/>
          <p:nvPr>
            <p:ph type="body" idx="1"/>
          </p:nvPr>
        </p:nvSpPr>
        <p:spPr>
          <a:xfrm rot="5400000">
            <a:off x="4083937" y="-1203579"/>
            <a:ext cx="4024126" cy="10820401"/>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1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pic>
        <p:nvPicPr>
          <p:cNvPr id="183" name="Google Shape;134;p32" descr="Google Shape;134;p32"/>
          <p:cNvPicPr>
            <a:picLocks noChangeAspect="1"/>
          </p:cNvPicPr>
          <p:nvPr/>
        </p:nvPicPr>
        <p:blipFill>
          <a:blip r:embed="rId2">
            <a:extLst/>
          </a:blip>
          <a:stretch>
            <a:fillRect/>
          </a:stretch>
        </p:blipFill>
        <p:spPr>
          <a:xfrm>
            <a:off x="0" y="4375150"/>
            <a:ext cx="12192000" cy="2482850"/>
          </a:xfrm>
          <a:prstGeom prst="rect">
            <a:avLst/>
          </a:prstGeom>
          <a:ln w="12700">
            <a:miter lim="400000"/>
          </a:ln>
        </p:spPr>
      </p:pic>
      <p:sp>
        <p:nvSpPr>
          <p:cNvPr id="184" name="Title Text"/>
          <p:cNvSpPr txBox="1"/>
          <p:nvPr>
            <p:ph type="title"/>
          </p:nvPr>
        </p:nvSpPr>
        <p:spPr>
          <a:xfrm rot="5400000">
            <a:off x="8525933" y="1667933"/>
            <a:ext cx="3903134" cy="2057401"/>
          </a:xfrm>
          <a:prstGeom prst="rect">
            <a:avLst/>
          </a:prstGeom>
        </p:spPr>
        <p:txBody>
          <a:bodyPr/>
          <a:lstStyle>
            <a:lvl1pPr algn="l"/>
          </a:lstStyle>
          <a:p>
            <a:pPr/>
            <a:r>
              <a:t>Title Text</a:t>
            </a:r>
          </a:p>
        </p:txBody>
      </p:sp>
      <p:sp>
        <p:nvSpPr>
          <p:cNvPr id="185" name="Body Level One…"/>
          <p:cNvSpPr txBox="1"/>
          <p:nvPr>
            <p:ph type="body" sz="half" idx="1"/>
          </p:nvPr>
        </p:nvSpPr>
        <p:spPr>
          <a:xfrm rot="5400000">
            <a:off x="3175000" y="-1405468"/>
            <a:ext cx="3903134" cy="8204202"/>
          </a:xfrm>
          <a:prstGeom prst="rect">
            <a:avLst/>
          </a:prstGeom>
        </p:spPr>
        <p:txBody>
          <a:bodyPr/>
          <a:lstStyle>
            <a:lvl1pPr indent="-342900"/>
            <a:lvl2pPr marL="948689" indent="-377189"/>
            <a:lvl4pPr marL="1957387" indent="-471487"/>
            <a:lvl5pPr marL="2414587" indent="-471487"/>
          </a:lstStyle>
          <a:p>
            <a:pPr/>
            <a:r>
              <a:t>Body Level One</a:t>
            </a:r>
          </a:p>
          <a:p>
            <a:pPr lvl="1"/>
            <a:r>
              <a:t>Body Level Two</a:t>
            </a:r>
          </a:p>
          <a:p>
            <a:pPr lvl="2"/>
            <a:r>
              <a:t>Body Level Three</a:t>
            </a:r>
          </a:p>
          <a:p>
            <a:pPr lvl="3"/>
            <a:r>
              <a:t>Body Level Four</a:t>
            </a:r>
          </a:p>
          <a:p>
            <a:pPr lvl="4"/>
            <a:r>
              <a:t>Body Level Five</a:t>
            </a:r>
          </a:p>
        </p:txBody>
      </p:sp>
      <p:sp>
        <p:nvSpPr>
          <p:cNvPr id="1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pic>
        <p:nvPicPr>
          <p:cNvPr id="2" name="Google Shape;6;p15" descr="Google Shape;6;p15"/>
          <p:cNvPicPr>
            <a:picLocks noChangeAspect="1"/>
          </p:cNvPicPr>
          <p:nvPr/>
        </p:nvPicPr>
        <p:blipFill>
          <a:blip r:embed="rId2">
            <a:extLst/>
          </a:blip>
          <a:stretch>
            <a:fillRect/>
          </a:stretch>
        </p:blipFill>
        <p:spPr>
          <a:xfrm>
            <a:off x="0" y="0"/>
            <a:ext cx="12192000" cy="1441450"/>
          </a:xfrm>
          <a:prstGeom prst="rect">
            <a:avLst/>
          </a:prstGeom>
          <a:ln w="12700">
            <a:miter lim="400000"/>
          </a:ln>
        </p:spPr>
      </p:pic>
      <p:sp>
        <p:nvSpPr>
          <p:cNvPr id="3"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4"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261333" y="441662"/>
            <a:ext cx="244868" cy="243801"/>
          </a:xfrm>
          <a:prstGeom prst="rect">
            <a:avLst/>
          </a:prstGeom>
          <a:ln w="12700">
            <a:miter lim="400000"/>
          </a:ln>
        </p:spPr>
        <p:txBody>
          <a:bodyPr wrap="none" lIns="45699" tIns="45699" rIns="45699" bIns="45699" anchor="ctr">
            <a:spAutoFit/>
          </a:bodyPr>
          <a:lstStyle>
            <a:lvl1pPr algn="r">
              <a:defRPr sz="1000">
                <a:solidFill>
                  <a:srgbClr val="FFFFFF"/>
                </a:solidFill>
                <a:latin typeface="Century Gothic"/>
                <a:ea typeface="Century Gothic"/>
                <a:cs typeface="Century Gothic"/>
                <a:sym typeface="Century Gothic"/>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b="0" baseline="0" cap="none" i="0" spc="0" strike="noStrike" sz="4000" u="none">
          <a:solidFill>
            <a:srgbClr val="FFFFFF"/>
          </a:solidFill>
          <a:uFillTx/>
          <a:latin typeface="Century Gothic"/>
          <a:ea typeface="Century Gothic"/>
          <a:cs typeface="Century Gothic"/>
          <a:sym typeface="Century Gothic"/>
        </a:defRPr>
      </a:lvl9pPr>
    </p:titleStyle>
    <p:bodyStyle>
      <a:lvl1pPr marL="457200" marR="0" indent="-36830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1pPr>
      <a:lvl2pPr marL="949960" marR="0" indent="-39116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2pPr>
      <a:lvl3pPr marL="1447800" marR="0" indent="-419100"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3pPr>
      <a:lvl4pPr marL="19526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4pPr>
      <a:lvl5pPr marL="24098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5pPr>
      <a:lvl6pPr marL="28670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6pPr>
      <a:lvl7pPr marL="33242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7pPr>
      <a:lvl8pPr marL="37814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8pPr>
      <a:lvl9pPr marL="4238625" marR="0" indent="-454025" algn="l" defTabSz="914400" rtl="0" latinLnBrk="0">
        <a:lnSpc>
          <a:spcPct val="90000"/>
        </a:lnSpc>
        <a:spcBef>
          <a:spcPts val="1000"/>
        </a:spcBef>
        <a:spcAft>
          <a:spcPts val="0"/>
        </a:spcAft>
        <a:buClr>
          <a:srgbClr val="FFFFFF"/>
        </a:buClr>
        <a:buSzPts val="2200"/>
        <a:buFont typeface="Arial"/>
        <a:buChar char="•"/>
        <a:tabLst/>
        <a:defRPr b="0" baseline="0" cap="none" i="0" spc="0" strike="noStrike" sz="2200" u="none">
          <a:solidFill>
            <a:srgbClr val="FFFFFF"/>
          </a:solidFill>
          <a:uFillTx/>
          <a:latin typeface="Century Gothic"/>
          <a:ea typeface="Century Gothic"/>
          <a:cs typeface="Century Gothic"/>
          <a:sym typeface="Century Gothic"/>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entury 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hyperlink" Target="https://codeql.github.com/codeql-query-help/cpp/cpp-sql-injection/" TargetMode="External"/><Relationship Id="rId4" Type="http://schemas.openxmlformats.org/officeDocument/2006/relationships/hyperlink" Target="https://google.github.io/googletest/primer.html" TargetMode="External"/><Relationship Id="rId5" Type="http://schemas.openxmlformats.org/officeDocument/2006/relationships/hyperlink" Target="https://clang.llvm.org/docs/UndefinedBehaviorSanitizer.html" TargetMode="External"/><Relationship Id="rId6" Type="http://schemas.openxmlformats.org/officeDocument/2006/relationships/hyperlink" Target="https://learn.microsoft.com/en-us/visualstudio/test/writing-unit-tests-for-c-cpp" TargetMode="External"/><Relationship Id="rId7" Type="http://schemas.openxmlformats.org/officeDocument/2006/relationships/hyperlink" Target="https://cheatsheetseries.owasp.org/cheatsheets/Cryptographic_Storage_Cheat_Sheet.html" TargetMode="External"/><Relationship Id="rId8" Type="http://schemas.openxmlformats.org/officeDocument/2006/relationships/hyperlink" Target="https://cheatsheetseries.owasp.org/cheatsheets/Transport_Layer_Security_Cheat_Sheet.html" TargetMode="External"/><Relationship Id="rId9" Type="http://schemas.openxmlformats.org/officeDocument/2006/relationships/hyperlink" Target="https://cmu-sei.github.io/secure-coding-standards/sei-cert-c-coding-standard/rules/integers-int/int32-c/"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Google Shape;144;p1"/>
          <p:cNvSpPr txBox="1"/>
          <p:nvPr>
            <p:ph type="ctrTitle"/>
          </p:nvPr>
        </p:nvSpPr>
        <p:spPr>
          <a:xfrm>
            <a:off x="1371600" y="1790152"/>
            <a:ext cx="9448800" cy="1825097"/>
          </a:xfrm>
          <a:prstGeom prst="rect">
            <a:avLst/>
          </a:prstGeom>
        </p:spPr>
        <p:txBody>
          <a:bodyPr lIns="0" tIns="0" rIns="0" bIns="0" anchor="t"/>
          <a:lstStyle/>
          <a:p>
            <a:pPr/>
            <a:r>
              <a:t>Green Pace</a:t>
            </a:r>
          </a:p>
        </p:txBody>
      </p:sp>
      <p:sp>
        <p:nvSpPr>
          <p:cNvPr id="196" name="Google Shape;145;p1"/>
          <p:cNvSpPr txBox="1"/>
          <p:nvPr>
            <p:ph type="subTitle" sz="quarter" idx="1"/>
          </p:nvPr>
        </p:nvSpPr>
        <p:spPr>
          <a:xfrm>
            <a:off x="1371600" y="3629025"/>
            <a:ext cx="5905500" cy="1562100"/>
          </a:xfrm>
          <a:prstGeom prst="rect">
            <a:avLst/>
          </a:prstGeom>
        </p:spPr>
        <p:txBody>
          <a:bodyPr lIns="0" tIns="0" rIns="0" bIns="0"/>
          <a:lstStyle/>
          <a:p>
            <a:pPr marL="0" indent="0">
              <a:lnSpc>
                <a:spcPct val="70000"/>
              </a:lnSpc>
              <a:spcBef>
                <a:spcPts val="0"/>
              </a:spcBef>
              <a:defRPr sz="1800"/>
            </a:pPr>
            <a:r>
              <a:t>Security Policy Presentation</a:t>
            </a:r>
          </a:p>
          <a:p>
            <a:pPr marL="0" indent="0">
              <a:lnSpc>
                <a:spcPct val="70000"/>
              </a:lnSpc>
              <a:defRPr sz="1800"/>
            </a:pPr>
            <a:r>
              <a:t>Developer: Bernard Albosta</a:t>
            </a:r>
          </a:p>
        </p:txBody>
      </p:sp>
      <p:pic>
        <p:nvPicPr>
          <p:cNvPr id="197" name="Google Shape;146;p1" descr="Google Shape;146;p1"/>
          <p:cNvPicPr>
            <a:picLocks noChangeAspect="1"/>
          </p:cNvPicPr>
          <p:nvPr/>
        </p:nvPicPr>
        <p:blipFill>
          <a:blip r:embed="rId3">
            <a:extLst/>
          </a:blip>
          <a:stretch>
            <a:fillRect/>
          </a:stretch>
        </p:blipFill>
        <p:spPr>
          <a:xfrm>
            <a:off x="7440773" y="659854"/>
            <a:ext cx="2921425" cy="378677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1" name="Google Shape;153;p3" descr="Google Shape;153;p3"/>
          <p:cNvPicPr>
            <a:picLocks noChangeAspect="1"/>
          </p:cNvPicPr>
          <p:nvPr/>
        </p:nvPicPr>
        <p:blipFill>
          <a:blip r:embed="rId3">
            <a:extLst/>
          </a:blip>
          <a:stretch>
            <a:fillRect/>
          </a:stretch>
        </p:blipFill>
        <p:spPr>
          <a:xfrm>
            <a:off x="3160642" y="2839410"/>
            <a:ext cx="6453258" cy="3797198"/>
          </a:xfrm>
          <a:prstGeom prst="rect">
            <a:avLst/>
          </a:prstGeom>
          <a:ln w="12700">
            <a:miter lim="400000"/>
          </a:ln>
        </p:spPr>
      </p:pic>
      <p:pic>
        <p:nvPicPr>
          <p:cNvPr id="202" name="Google Shape;154;p3" descr="Google Shape;154;p3"/>
          <p:cNvPicPr>
            <a:picLocks noChangeAspect="1"/>
          </p:cNvPicPr>
          <p:nvPr/>
        </p:nvPicPr>
        <p:blipFill>
          <a:blip r:embed="rId4">
            <a:extLst/>
          </a:blip>
          <a:stretch>
            <a:fillRect/>
          </a:stretch>
        </p:blipFill>
        <p:spPr>
          <a:xfrm>
            <a:off x="11084073" y="5440526"/>
            <a:ext cx="886602" cy="1149226"/>
          </a:xfrm>
          <a:prstGeom prst="rect">
            <a:avLst/>
          </a:prstGeom>
          <a:ln w="12700">
            <a:miter lim="400000"/>
          </a:ln>
        </p:spPr>
      </p:pic>
      <p:sp>
        <p:nvSpPr>
          <p:cNvPr id="203" name="OVERVIEW: DEFENSE IN DEPTH"/>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OVERVIEW: DEFENSE IN DEPTH</a:t>
            </a:r>
          </a:p>
        </p:txBody>
      </p:sp>
      <p:sp>
        <p:nvSpPr>
          <p:cNvPr id="204" name="A shared policy makes security part of everyday de"/>
          <p:cNvSpPr txBox="1"/>
          <p:nvPr/>
        </p:nvSpPr>
        <p:spPr>
          <a:xfrm>
            <a:off x="685800" y="2105025"/>
            <a:ext cx="104775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FFFFFF"/>
                </a:solidFill>
                <a:latin typeface="Century Gothic"/>
                <a:ea typeface="Century Gothic"/>
                <a:cs typeface="Century Gothic"/>
                <a:sym typeface="Century Gothic"/>
              </a:defRPr>
            </a:pPr>
            <a:r>
              <a:t>A shared policy makes security part of everyday development.</a:t>
            </a:r>
          </a:p>
          <a:p>
            <a:pPr>
              <a:defRPr sz="1800">
                <a:solidFill>
                  <a:srgbClr val="FFFFFF"/>
                </a:solidFill>
                <a:latin typeface="Century Gothic"/>
                <a:ea typeface="Century Gothic"/>
                <a:cs typeface="Century Gothic"/>
                <a:sym typeface="Century Gothic"/>
              </a:defRPr>
            </a:pPr>
            <a:r>
              <a:t>Assume input and individual controls can fail.</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08" name="Google Shape;161;p4"/>
          <p:cNvGraphicFramePr/>
          <p:nvPr/>
        </p:nvGraphicFramePr>
        <p:xfrm>
          <a:off x="3171899" y="2561050"/>
          <a:ext cx="7835226" cy="3538650"/>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4030425"/>
                <a:gridCol w="3804800"/>
              </a:tblGrid>
              <a:tr h="1769325">
                <a:tc>
                  <a:txBody>
                    <a:bodyPr/>
                    <a:lstStyle/>
                    <a:p>
                      <a:pPr algn="l">
                        <a:defRPr sz="1800"/>
                      </a:pPr>
                      <a:r>
                        <a:rPr>
                          <a:solidFill>
                            <a:srgbClr val="222222"/>
                          </a:solidFill>
                          <a:latin typeface="Century Gothic"/>
                          <a:ea typeface="Century Gothic"/>
                          <a:cs typeface="Century Gothic"/>
                        </a:rPr>
                        <a:t>Likely / Medium impact
None rated</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c>
                  <a:txBody>
                    <a:bodyPr/>
                    <a:lstStyle/>
                    <a:p>
                      <a:pPr algn="l">
                        <a:defRPr sz="1800"/>
                      </a:pPr>
                      <a:r>
                        <a:rPr>
                          <a:solidFill>
                            <a:srgbClr val="222222"/>
                          </a:solidFill>
                          <a:latin typeface="Century Gothic"/>
                          <a:ea typeface="Century Gothic"/>
                          <a:cs typeface="Century Gothic"/>
                        </a:rPr>
                        <a:t>Likely / High impact
STD-003-CPP, STD-004-CPP
STD-005-CPP, STD-009-CPP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4D9D0"/>
                    </a:solidFill>
                  </a:tcPr>
                </a:tc>
              </a:tr>
              <a:tr h="1769325">
                <a:tc>
                  <a:txBody>
                    <a:bodyPr/>
                    <a:lstStyle/>
                    <a:p>
                      <a:pPr algn="l">
                        <a:defRPr sz="1800"/>
                      </a:pPr>
                      <a:r>
                        <a:rPr>
                          <a:solidFill>
                            <a:srgbClr val="222222"/>
                          </a:solidFill>
                          <a:latin typeface="Century Gothic"/>
                          <a:ea typeface="Century Gothic"/>
                          <a:cs typeface="Century Gothic"/>
                        </a:rPr>
                        <a:t>Probable / Medium impact
STD-006-CPP, STD-007-CPP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c>
                  <a:txBody>
                    <a:bodyPr/>
                    <a:lstStyle/>
                    <a:p>
                      <a:pPr algn="l">
                        <a:defRPr sz="1800"/>
                      </a:pPr>
                      <a:r>
                        <a:rPr>
                          <a:solidFill>
                            <a:srgbClr val="222222"/>
                          </a:solidFill>
                          <a:latin typeface="Century Gothic"/>
                          <a:ea typeface="Century Gothic"/>
                          <a:cs typeface="Century Gothic"/>
                        </a:rPr>
                        <a:t>Probable / High impact
STD-001-CPP, STD-002-CPP
STD-008-CPP, STD-010-CPP</a:t>
                      </a:r>
                    </a:p>
                  </a:txBody>
                  <a:tcPr marL="91425" marR="91425" marT="91425" marB="91425" anchor="t" anchorCtr="0" horzOverflow="overflow">
                    <a:lnL w="28575">
                      <a:solidFill>
                        <a:srgbClr val="9E9E9E"/>
                      </a:solidFill>
                    </a:lnL>
                    <a:lnR w="28575">
                      <a:solidFill>
                        <a:srgbClr val="9E9E9E"/>
                      </a:solidFill>
                    </a:lnR>
                    <a:lnT w="28575">
                      <a:solidFill>
                        <a:srgbClr val="9E9E9E"/>
                      </a:solidFill>
                    </a:lnT>
                    <a:lnB w="28575">
                      <a:solidFill>
                        <a:srgbClr val="9E9E9E"/>
                      </a:solidFill>
                    </a:lnB>
                    <a:solidFill>
                      <a:srgbClr val="FFF2CC"/>
                    </a:solidFill>
                  </a:tcPr>
                </a:tc>
              </a:tr>
            </a:tbl>
          </a:graphicData>
        </a:graphic>
      </p:graphicFrame>
      <p:pic>
        <p:nvPicPr>
          <p:cNvPr id="209" name="Google Shape;162;p4" descr="Google Shape;162;p4"/>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10" name="THREATS MATRIX"/>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THREATS MATRIX</a:t>
            </a:r>
          </a:p>
        </p:txBody>
      </p:sp>
      <p:sp>
        <p:nvSpPr>
          <p:cNvPr id="211" name="Policy estimates, not incident statisticsAll IDs"/>
          <p:cNvSpPr txBox="1"/>
          <p:nvPr/>
        </p:nvSpPr>
        <p:spPr>
          <a:xfrm>
            <a:off x="685800" y="2266950"/>
            <a:ext cx="2286000" cy="279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FFFFFF"/>
                </a:solidFill>
                <a:latin typeface="Century Gothic"/>
                <a:ea typeface="Century Gothic"/>
                <a:cs typeface="Century Gothic"/>
                <a:sym typeface="Century Gothic"/>
              </a:defRPr>
            </a:pPr>
            <a:r>
              <a:t>Policy estimates, not incident statistics</a:t>
            </a:r>
          </a:p>
          <a:p>
            <a:pPr>
              <a:defRPr sz="1800">
                <a:solidFill>
                  <a:srgbClr val="FFFFFF"/>
                </a:solidFill>
                <a:latin typeface="Century Gothic"/>
                <a:ea typeface="Century Gothic"/>
                <a:cs typeface="Century Gothic"/>
                <a:sym typeface="Century Gothic"/>
              </a:defRPr>
            </a:pPr>
          </a:p>
          <a:p>
            <a:pPr>
              <a:defRPr sz="1800">
                <a:solidFill>
                  <a:srgbClr val="FFFFFF"/>
                </a:solidFill>
                <a:latin typeface="Century Gothic"/>
                <a:ea typeface="Century Gothic"/>
                <a:cs typeface="Century Gothic"/>
                <a:sym typeface="Century Gothic"/>
              </a:defRPr>
            </a:pPr>
            <a:r>
              <a:t>All IDs use STD-###-CPP.</a:t>
            </a:r>
          </a:p>
          <a:p>
            <a:pPr>
              <a:defRPr sz="1800">
                <a:solidFill>
                  <a:srgbClr val="FFFFFF"/>
                </a:solidFill>
                <a:latin typeface="Century Gothic"/>
                <a:ea typeface="Century Gothic"/>
                <a:cs typeface="Century Gothic"/>
                <a:sym typeface="Century Gothic"/>
              </a:defRPr>
            </a:pPr>
          </a:p>
          <a:p>
            <a:pPr>
              <a:defRPr sz="1800">
                <a:solidFill>
                  <a:srgbClr val="FFFFFF"/>
                </a:solidFill>
                <a:latin typeface="Century Gothic"/>
                <a:ea typeface="Century Gothic"/>
                <a:cs typeface="Century Gothic"/>
                <a:sym typeface="Century Gothic"/>
              </a:defRPr>
            </a:pPr>
            <a:r>
              <a:t>Impact follows severity.</a:t>
            </a:r>
          </a:p>
          <a:p>
            <a:pPr>
              <a:defRPr sz="1800">
                <a:solidFill>
                  <a:srgbClr val="FFFFFF"/>
                </a:solidFill>
                <a:latin typeface="Century Gothic"/>
                <a:ea typeface="Century Gothic"/>
                <a:cs typeface="Century Gothic"/>
                <a:sym typeface="Century Gothic"/>
              </a:defRPr>
            </a:pPr>
            <a:r>
              <a:t>Probable remains a meaningful risk.</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5" name="Google Shape;169;p5" descr="Google Shape;169;p5"/>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16" name="10 PRINCIPLE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10 PRINCIPLES</a:t>
            </a:r>
          </a:p>
        </p:txBody>
      </p:sp>
      <p:graphicFrame>
        <p:nvGraphicFramePr>
          <p:cNvPr id="217" name="Table 1"/>
          <p:cNvGraphicFramePr/>
          <p:nvPr/>
        </p:nvGraphicFramePr>
        <p:xfrm>
          <a:off x="685800" y="2190750"/>
          <a:ext cx="10096500" cy="381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334000"/>
                <a:gridCol w="4762500"/>
              </a:tblGrid>
              <a:tr h="346364">
                <a:tc>
                  <a:txBody>
                    <a:bodyPr/>
                    <a:lstStyle/>
                    <a:p>
                      <a:pPr algn="l">
                        <a:defRPr sz="1800"/>
                      </a:pPr>
                      <a:r>
                        <a:rPr b="1" sz="1500">
                          <a:solidFill>
                            <a:srgbClr val="FFFFFF"/>
                          </a:solidFill>
                          <a:latin typeface="Century Gothic"/>
                          <a:ea typeface="Century Gothic"/>
                          <a:cs typeface="Century Gothic"/>
                        </a:rPr>
                        <a:t>Security principle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c>
                  <a:txBody>
                    <a:bodyPr/>
                    <a:lstStyle/>
                    <a:p>
                      <a:pPr algn="l">
                        <a:defRPr sz="1800"/>
                      </a:pPr>
                      <a:r>
                        <a:rPr b="1" sz="1500">
                          <a:solidFill>
                            <a:srgbClr val="FFFFFF"/>
                          </a:solidFill>
                          <a:latin typeface="Century Gothic"/>
                          <a:ea typeface="Century Gothic"/>
                          <a:cs typeface="Century Gothic"/>
                        </a:rPr>
                        <a:t>Applicable standards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r>
              <a:tr h="346364">
                <a:tc>
                  <a:txBody>
                    <a:bodyPr/>
                    <a:lstStyle/>
                    <a:p>
                      <a:pPr algn="l">
                        <a:defRPr sz="1800"/>
                      </a:pPr>
                      <a:r>
                        <a:rPr sz="1500">
                          <a:solidFill>
                            <a:srgbClr val="FFFFFF"/>
                          </a:solidFill>
                          <a:latin typeface="Century Gothic"/>
                          <a:ea typeface="Century Gothic"/>
                          <a:cs typeface="Century Gothic"/>
                        </a:rPr>
                        <a:t>1  Validate Input Data</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001, 002, 003, 009</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2  Heed Compiler Warnings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001, 008</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3  Architect and Design for Security Policies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007; SYS-001 through SYS-004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4  Keep It Simple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003, 005, 006, 007, 010</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5  Default Deny</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008; SYS-002, SYS-004, SYS-005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6  Adhere to the Principle of Least Privilege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004; SYS-001, SYS-003, SYS-005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7  Sanitize Data Sent to Other Systems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004; SYS-006</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8  Practice Defense in Depth</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004, 007, 009; SYS-001 through SYS-004, SYS-006</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9  Use Effective Quality Assurance Techniques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002, 005, 006, 007, 009, 010; SYS-005, SYS-006</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10  Adopt a Secure Coding Standard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001, 002, 003, 005, 006, 008, 010</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bl>
          </a:graphicData>
        </a:graphic>
      </p:graphicFrame>
      <p:sp>
        <p:nvSpPr>
          <p:cNvPr id="218" name="Coding IDs are STD-###-CPP. SYS IDs identify encry"/>
          <p:cNvSpPr txBox="1"/>
          <p:nvPr/>
        </p:nvSpPr>
        <p:spPr>
          <a:xfrm>
            <a:off x="685800" y="6191250"/>
            <a:ext cx="1009650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FFFFFF"/>
                </a:solidFill>
                <a:latin typeface="Century Gothic"/>
                <a:ea typeface="Century Gothic"/>
                <a:cs typeface="Century Gothic"/>
                <a:sym typeface="Century Gothic"/>
              </a:defRPr>
            </a:lvl1pPr>
          </a:lstStyle>
          <a:p>
            <a:pPr/>
            <a:r>
              <a:t>Coding IDs are STD-###-CPP. SYS IDs identify encryption and Triple-A policies.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2" name="Google Shape;176;p6" descr="Google Shape;176;p6"/>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23" name="CODING STANDARD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CODING STANDARDS</a:t>
            </a:r>
          </a:p>
        </p:txBody>
      </p:sp>
      <p:graphicFrame>
        <p:nvGraphicFramePr>
          <p:cNvPr id="224" name="Table 1"/>
          <p:cNvGraphicFramePr/>
          <p:nvPr/>
        </p:nvGraphicFramePr>
        <p:xfrm>
          <a:off x="685800" y="2190750"/>
          <a:ext cx="10096500" cy="381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00250"/>
                <a:gridCol w="6477000"/>
                <a:gridCol w="1619250"/>
              </a:tblGrid>
              <a:tr h="346364">
                <a:tc>
                  <a:txBody>
                    <a:bodyPr/>
                    <a:lstStyle/>
                    <a:p>
                      <a:pPr algn="l">
                        <a:defRPr sz="1800"/>
                      </a:pPr>
                      <a:r>
                        <a:rPr b="1" sz="1500">
                          <a:solidFill>
                            <a:srgbClr val="FFFFFF"/>
                          </a:solidFill>
                          <a:latin typeface="Century Gothic"/>
                          <a:ea typeface="Century Gothic"/>
                          <a:cs typeface="Century Gothic"/>
                        </a:rPr>
                        <a:t>Order / ID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c>
                  <a:txBody>
                    <a:bodyPr/>
                    <a:lstStyle/>
                    <a:p>
                      <a:pPr algn="l">
                        <a:defRPr sz="1800"/>
                      </a:pPr>
                      <a:r>
                        <a:rPr b="1" sz="1500">
                          <a:solidFill>
                            <a:srgbClr val="FFFFFF"/>
                          </a:solidFill>
                          <a:latin typeface="Century Gothic"/>
                          <a:ea typeface="Century Gothic"/>
                          <a:cs typeface="Century Gothic"/>
                        </a:rPr>
                        <a:t>Required practice and example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c>
                  <a:txBody>
                    <a:bodyPr/>
                    <a:lstStyle/>
                    <a:p>
                      <a:pPr algn="l">
                        <a:defRPr sz="1800"/>
                      </a:pPr>
                      <a:r>
                        <a:rPr b="1" sz="1500">
                          <a:solidFill>
                            <a:srgbClr val="FFFFFF"/>
                          </a:solidFill>
                          <a:latin typeface="Century Gothic"/>
                          <a:ea typeface="Century Gothic"/>
                          <a:cs typeface="Century Gothic"/>
                        </a:rPr>
                        <a:t>Score / level</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r>
              <a:tr h="346364">
                <a:tc>
                  <a:txBody>
                    <a:bodyPr/>
                    <a:lstStyle/>
                    <a:p>
                      <a:pPr algn="l">
                        <a:defRPr sz="1800"/>
                      </a:pPr>
                      <a:r>
                        <a:rPr sz="1500">
                          <a:solidFill>
                            <a:srgbClr val="FFFFFF"/>
                          </a:solidFill>
                          <a:latin typeface="Century Gothic"/>
                          <a:ea typeface="Century Gothic"/>
                          <a:cs typeface="Century Gothic"/>
                        </a:rPr>
                        <a:t>1  STD-003-CPP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Reserve string storage, including the null terminator</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27 / 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2  STD-009-CPP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Use checked access for empty or short containers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27 / 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3  STD-004-CPP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Bind usernames as SQL parameters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18 / 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4  STD-005-CPP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Read an object only while its owner is alive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18 / 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5  STD-001-CPP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Check a count before narrowing its type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18 / 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6  STD-008-CPP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Initialize access flags to false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18 / 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7  STD-010-CPP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Pair new[] with delete[], or use an owning container</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18 / 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8  STD-002-CPP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Check integer limits before adding quantities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12 / 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9  STD-006-CPP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Keep required updates outside assert()</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12 / 3</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10  STD-007-CPP</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Use resource owners when an operation throws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8 / 3</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bl>
          </a:graphicData>
        </a:graphic>
      </p:graphicFrame>
      <p:sp>
        <p:nvSpPr>
          <p:cNvPr id="225" name="Score = severity × likelihood × ease of repair. Ex"/>
          <p:cNvSpPr txBox="1"/>
          <p:nvPr/>
        </p:nvSpPr>
        <p:spPr>
          <a:xfrm>
            <a:off x="685800" y="6200775"/>
            <a:ext cx="100012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FFFFFF"/>
                </a:solidFill>
                <a:latin typeface="Century Gothic"/>
                <a:ea typeface="Century Gothic"/>
                <a:cs typeface="Century Gothic"/>
                <a:sym typeface="Century Gothic"/>
              </a:defRPr>
            </a:lvl1pPr>
          </a:lstStyle>
          <a:p>
            <a:pPr/>
            <a:r>
              <a:t>Score = severity × likelihood × ease of repair. Exposure breaks ties.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9" name="Google Shape;183;p7" descr="Google Shape;183;p7"/>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30" name="ENCRYPTION POLICIE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ENCRYPTION POLICIES</a:t>
            </a:r>
          </a:p>
        </p:txBody>
      </p:sp>
      <p:sp>
        <p:nvSpPr>
          <p:cNvPr id="231" name="In flight: TLS with certificate validation on ever"/>
          <p:cNvSpPr txBox="1"/>
          <p:nvPr/>
        </p:nvSpPr>
        <p:spPr>
          <a:xfrm>
            <a:off x="685800" y="2238375"/>
            <a:ext cx="10001250" cy="297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FFFFFF"/>
                </a:solidFill>
                <a:latin typeface="Century Gothic"/>
                <a:ea typeface="Century Gothic"/>
                <a:cs typeface="Century Gothic"/>
                <a:sym typeface="Century Gothic"/>
              </a:defRPr>
            </a:pPr>
            <a:r>
              <a:t>In flight: TLS with certificate validation on every sensitive hop.</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At rest: encrypt files, databases, and backups. Keep keys separate.</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In use: assess an attested trusted execution environment for highly sensitive processing.</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Verification includes rejected certificates, backup recovery, and denied key release.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5" name="Google Shape;190;p8" descr="Google Shape;190;p8"/>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36" name="TRIPLE-A POLICIE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TRIPLE-A POLICIES</a:t>
            </a:r>
          </a:p>
        </p:txBody>
      </p:sp>
      <p:sp>
        <p:nvSpPr>
          <p:cNvPr id="237" name="Authentication: verify identity. Use MFA for privi"/>
          <p:cNvSpPr txBox="1"/>
          <p:nvPr/>
        </p:nvSpPr>
        <p:spPr>
          <a:xfrm>
            <a:off x="685800" y="2238375"/>
            <a:ext cx="10001250" cy="2311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FFFFFF"/>
                </a:solidFill>
                <a:latin typeface="Century Gothic"/>
                <a:ea typeface="Century Gothic"/>
                <a:cs typeface="Century Gothic"/>
                <a:sym typeface="Century Gothic"/>
              </a:defRPr>
            </a:pPr>
            <a:r>
              <a:t>Authentication: verify identity. Use MFA for privileged and remote access.</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Authorization: check permission for each protected action. Default to denial.</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Accounting: record the actor, action, resource, time, and result.</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Test disabled accounts, denied roles, and central receipt of audit events.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42" name="Does ordinary addition still work?"/>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Does ordinary addition still work?</a:t>
            </a:r>
          </a:p>
        </p:txBody>
      </p:sp>
      <p:sp>
        <p:nvSpPr>
          <p:cNvPr id="24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44" name="TEST(SafeAddition, OrdinaryAddition) {  EXPECT_EQ"/>
          <p:cNvSpPr txBox="1"/>
          <p:nvPr/>
        </p:nvSpPr>
        <p:spPr>
          <a:xfrm>
            <a:off x="685800" y="2695575"/>
            <a:ext cx="10287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OrdinaryAddition) {</a:t>
            </a:r>
          </a:p>
          <a:p>
            <a:pPr>
              <a:defRPr sz="1600">
                <a:solidFill>
                  <a:srgbClr val="FFFFFF"/>
                </a:solidFill>
                <a:latin typeface="Century Gothic"/>
                <a:ea typeface="Century Gothic"/>
                <a:cs typeface="Century Gothic"/>
                <a:sym typeface="Century Gothic"/>
              </a:defRPr>
            </a:pPr>
            <a:r>
              <a:t>  EXPECT_EQ(addUnits(20, 22), 42);</a:t>
            </a:r>
          </a:p>
          <a:p>
            <a:pPr>
              <a:defRPr sz="1600">
                <a:solidFill>
                  <a:srgbClr val="FFFFFF"/>
                </a:solidFill>
                <a:latin typeface="Century Gothic"/>
                <a:ea typeface="Century Gothic"/>
                <a:cs typeface="Century Gothic"/>
                <a:sym typeface="Century Gothic"/>
              </a:defRPr>
            </a:pPr>
            <a:r>
              <a:t>}</a:t>
            </a:r>
          </a:p>
        </p:txBody>
      </p:sp>
      <p:sp>
        <p:nvSpPr>
          <p:cNvPr id="245" name="[ RUN      ] SafeAddition.OrdinaryAddition[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SafeAddition.OrdinaryAddition</a:t>
            </a:r>
          </a:p>
          <a:p>
            <a:pPr>
              <a:defRPr sz="1800">
                <a:solidFill>
                  <a:srgbClr val="B7D397"/>
                </a:solidFill>
                <a:latin typeface="Century Gothic"/>
                <a:ea typeface="Century Gothic"/>
                <a:cs typeface="Century Gothic"/>
                <a:sym typeface="Century Gothic"/>
              </a:defRPr>
            </a:pPr>
            <a:r>
              <a:t>[       OK ] SafeAddition.OrdinaryAddition (0 ms)</a:t>
            </a:r>
          </a:p>
          <a:p>
            <a:pPr>
              <a:defRPr sz="1800">
                <a:solidFill>
                  <a:srgbClr val="B7D397"/>
                </a:solidFill>
                <a:latin typeface="Century Gothic"/>
                <a:ea typeface="Century Gothic"/>
                <a:cs typeface="Century Gothic"/>
                <a:sym typeface="Century Gothic"/>
              </a:defRPr>
            </a:pPr>
            <a:r>
              <a:t>[  PASSED  ] 1 test.</a:t>
            </a:r>
          </a:p>
        </p:txBody>
      </p:sp>
      <p:sp>
        <p:nvSpPr>
          <p:cNvPr id="246" name="Expected: 20 + 22 = 42"/>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20 + 22 = 42</a:t>
            </a:r>
          </a:p>
        </p:txBody>
      </p:sp>
      <p:sp>
        <p:nvSpPr>
          <p:cNvPr id="247" name="Further testing: Test both operand orders and more"/>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Test both operand orders and more valid quantities.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52" name="Does adding zero preserve the value?"/>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Does adding zero preserve the value?</a:t>
            </a:r>
          </a:p>
        </p:txBody>
      </p:sp>
      <p:sp>
        <p:nvSpPr>
          <p:cNvPr id="25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54" name="TEST(SafeAddition, ZeroPreservesValue) {  EXPECT_"/>
          <p:cNvSpPr txBox="1"/>
          <p:nvPr/>
        </p:nvSpPr>
        <p:spPr>
          <a:xfrm>
            <a:off x="685800" y="2695575"/>
            <a:ext cx="10287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ZeroPreservesValue) {</a:t>
            </a:r>
          </a:p>
          <a:p>
            <a:pPr>
              <a:defRPr sz="1600">
                <a:solidFill>
                  <a:srgbClr val="FFFFFF"/>
                </a:solidFill>
                <a:latin typeface="Century Gothic"/>
                <a:ea typeface="Century Gothic"/>
                <a:cs typeface="Century Gothic"/>
                <a:sym typeface="Century Gothic"/>
              </a:defRPr>
            </a:pPr>
            <a:r>
              <a:t>  EXPECT_EQ(addUnits(42, 0), 42);</a:t>
            </a:r>
          </a:p>
          <a:p>
            <a:pPr>
              <a:defRPr sz="1600">
                <a:solidFill>
                  <a:srgbClr val="FFFFFF"/>
                </a:solidFill>
                <a:latin typeface="Century Gothic"/>
                <a:ea typeface="Century Gothic"/>
                <a:cs typeface="Century Gothic"/>
                <a:sym typeface="Century Gothic"/>
              </a:defRPr>
            </a:pPr>
            <a:r>
              <a:t>}</a:t>
            </a:r>
          </a:p>
        </p:txBody>
      </p:sp>
      <p:sp>
        <p:nvSpPr>
          <p:cNvPr id="255" name="[ RUN      ] SafeAddition.ZeroPreservesValue[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SafeAddition.ZeroPreservesValue</a:t>
            </a:r>
          </a:p>
          <a:p>
            <a:pPr>
              <a:defRPr sz="1800">
                <a:solidFill>
                  <a:srgbClr val="B7D397"/>
                </a:solidFill>
                <a:latin typeface="Century Gothic"/>
                <a:ea typeface="Century Gothic"/>
                <a:cs typeface="Century Gothic"/>
                <a:sym typeface="Century Gothic"/>
              </a:defRPr>
            </a:pPr>
            <a:r>
              <a:t>[       OK ] SafeAddition.ZeroPreservesValue (0 ms)</a:t>
            </a:r>
          </a:p>
          <a:p>
            <a:pPr>
              <a:defRPr sz="1800">
                <a:solidFill>
                  <a:srgbClr val="B7D397"/>
                </a:solidFill>
                <a:latin typeface="Century Gothic"/>
                <a:ea typeface="Century Gothic"/>
                <a:cs typeface="Century Gothic"/>
                <a:sym typeface="Century Gothic"/>
              </a:defRPr>
            </a:pPr>
            <a:r>
              <a:t>[  PASSED  ] 1 test.</a:t>
            </a:r>
          </a:p>
        </p:txBody>
      </p:sp>
      <p:sp>
        <p:nvSpPr>
          <p:cNvPr id="256" name="Expected: 42 + 0 = 42"/>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42 + 0 = 42</a:t>
            </a:r>
          </a:p>
        </p:txBody>
      </p:sp>
      <p:sp>
        <p:nvSpPr>
          <p:cNvPr id="257" name="Further testing: Also check zero with INT_MIN and "/>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Also check zero with INT_MIN and INT_MAX.</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62" name="Can the sum reach INT_MAX safely?"/>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Can the sum reach INT_MAX safely?</a:t>
            </a:r>
          </a:p>
        </p:txBody>
      </p:sp>
      <p:sp>
        <p:nvSpPr>
          <p:cNvPr id="26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64" name="TEST(SafeAddition, MaximumBoundary) {  EXPECT_EQ("/>
          <p:cNvSpPr txBox="1"/>
          <p:nvPr/>
        </p:nvSpPr>
        <p:spPr>
          <a:xfrm>
            <a:off x="685800" y="2695575"/>
            <a:ext cx="10287000" cy="1016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MaximumBoundary) {</a:t>
            </a:r>
          </a:p>
          <a:p>
            <a:pPr>
              <a:defRPr sz="1600">
                <a:solidFill>
                  <a:srgbClr val="FFFFFF"/>
                </a:solidFill>
                <a:latin typeface="Century Gothic"/>
                <a:ea typeface="Century Gothic"/>
                <a:cs typeface="Century Gothic"/>
                <a:sym typeface="Century Gothic"/>
              </a:defRPr>
            </a:pPr>
            <a:r>
              <a:t>  EXPECT_EQ(addUnits(std::numeric_limits&lt;int&gt;::max() - 1, 1),</a:t>
            </a:r>
          </a:p>
          <a:p>
            <a:pPr>
              <a:defRPr sz="1600">
                <a:solidFill>
                  <a:srgbClr val="FFFFFF"/>
                </a:solidFill>
                <a:latin typeface="Century Gothic"/>
                <a:ea typeface="Century Gothic"/>
                <a:cs typeface="Century Gothic"/>
                <a:sym typeface="Century Gothic"/>
              </a:defRPr>
            </a:pPr>
            <a:r>
              <a:t>    std::numeric_limits&lt;int&gt;::max());</a:t>
            </a:r>
          </a:p>
          <a:p>
            <a:pPr>
              <a:defRPr sz="1600">
                <a:solidFill>
                  <a:srgbClr val="FFFFFF"/>
                </a:solidFill>
                <a:latin typeface="Century Gothic"/>
                <a:ea typeface="Century Gothic"/>
                <a:cs typeface="Century Gothic"/>
                <a:sym typeface="Century Gothic"/>
              </a:defRPr>
            </a:pPr>
            <a:r>
              <a:t>}</a:t>
            </a:r>
          </a:p>
        </p:txBody>
      </p:sp>
      <p:sp>
        <p:nvSpPr>
          <p:cNvPr id="265" name="[ RUN      ] SafeAddition.MaximumBoundary[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SafeAddition.MaximumBoundary</a:t>
            </a:r>
          </a:p>
          <a:p>
            <a:pPr>
              <a:defRPr sz="1800">
                <a:solidFill>
                  <a:srgbClr val="B7D397"/>
                </a:solidFill>
                <a:latin typeface="Century Gothic"/>
                <a:ea typeface="Century Gothic"/>
                <a:cs typeface="Century Gothic"/>
                <a:sym typeface="Century Gothic"/>
              </a:defRPr>
            </a:pPr>
            <a:r>
              <a:t>[       OK ] SafeAddition.MaximumBoundary (0 ms)</a:t>
            </a:r>
          </a:p>
          <a:p>
            <a:pPr>
              <a:defRPr sz="1800">
                <a:solidFill>
                  <a:srgbClr val="B7D397"/>
                </a:solidFill>
                <a:latin typeface="Century Gothic"/>
                <a:ea typeface="Century Gothic"/>
                <a:cs typeface="Century Gothic"/>
                <a:sym typeface="Century Gothic"/>
              </a:defRPr>
            </a:pPr>
            <a:r>
              <a:t>[  PASSED  ] 1 test.</a:t>
            </a:r>
          </a:p>
        </p:txBody>
      </p:sp>
      <p:sp>
        <p:nvSpPr>
          <p:cNvPr id="266" name="Expected: (INT_MAX - 1) + 1 = INT_MAX"/>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(INT_MAX - 1) + 1 = INT_MAX</a:t>
            </a:r>
          </a:p>
        </p:txBody>
      </p:sp>
      <p:sp>
        <p:nvSpPr>
          <p:cNvPr id="267" name="Further testing: Check INT_MAX + 0 and reversed op"/>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Check INT_MAX + 0 and reversed operand order.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72" name="Can the sum reach INT_MIN safely?"/>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Can the sum reach INT_MIN safely?</a:t>
            </a:r>
          </a:p>
        </p:txBody>
      </p:sp>
      <p:sp>
        <p:nvSpPr>
          <p:cNvPr id="27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74" name="TEST(SafeAddition, MinimumBoundary) {  EXPECT_EQ("/>
          <p:cNvSpPr txBox="1"/>
          <p:nvPr/>
        </p:nvSpPr>
        <p:spPr>
          <a:xfrm>
            <a:off x="685800" y="2695575"/>
            <a:ext cx="10287000" cy="1016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MinimumBoundary) {</a:t>
            </a:r>
          </a:p>
          <a:p>
            <a:pPr>
              <a:defRPr sz="1600">
                <a:solidFill>
                  <a:srgbClr val="FFFFFF"/>
                </a:solidFill>
                <a:latin typeface="Century Gothic"/>
                <a:ea typeface="Century Gothic"/>
                <a:cs typeface="Century Gothic"/>
                <a:sym typeface="Century Gothic"/>
              </a:defRPr>
            </a:pPr>
            <a:r>
              <a:t>  EXPECT_EQ(addUnits(std::numeric_limits&lt;int&gt;::min() + 1, -1),</a:t>
            </a:r>
          </a:p>
          <a:p>
            <a:pPr>
              <a:defRPr sz="1600">
                <a:solidFill>
                  <a:srgbClr val="FFFFFF"/>
                </a:solidFill>
                <a:latin typeface="Century Gothic"/>
                <a:ea typeface="Century Gothic"/>
                <a:cs typeface="Century Gothic"/>
                <a:sym typeface="Century Gothic"/>
              </a:defRPr>
            </a:pPr>
            <a:r>
              <a:t>    std::numeric_limits&lt;int&gt;::min());</a:t>
            </a:r>
          </a:p>
          <a:p>
            <a:pPr>
              <a:defRPr sz="1600">
                <a:solidFill>
                  <a:srgbClr val="FFFFFF"/>
                </a:solidFill>
                <a:latin typeface="Century Gothic"/>
                <a:ea typeface="Century Gothic"/>
                <a:cs typeface="Century Gothic"/>
                <a:sym typeface="Century Gothic"/>
              </a:defRPr>
            </a:pPr>
            <a:r>
              <a:t>}</a:t>
            </a:r>
          </a:p>
        </p:txBody>
      </p:sp>
      <p:sp>
        <p:nvSpPr>
          <p:cNvPr id="275" name="[ RUN      ] SafeAddition.MinimumBoundary[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SafeAddition.MinimumBoundary</a:t>
            </a:r>
          </a:p>
          <a:p>
            <a:pPr>
              <a:defRPr sz="1800">
                <a:solidFill>
                  <a:srgbClr val="B7D397"/>
                </a:solidFill>
                <a:latin typeface="Century Gothic"/>
                <a:ea typeface="Century Gothic"/>
                <a:cs typeface="Century Gothic"/>
                <a:sym typeface="Century Gothic"/>
              </a:defRPr>
            </a:pPr>
            <a:r>
              <a:t>[       OK ] SafeAddition.MinimumBoundary (0 ms)</a:t>
            </a:r>
          </a:p>
          <a:p>
            <a:pPr>
              <a:defRPr sz="1800">
                <a:solidFill>
                  <a:srgbClr val="B7D397"/>
                </a:solidFill>
                <a:latin typeface="Century Gothic"/>
                <a:ea typeface="Century Gothic"/>
                <a:cs typeface="Century Gothic"/>
                <a:sym typeface="Century Gothic"/>
              </a:defRPr>
            </a:pPr>
            <a:r>
              <a:t>[  PASSED  ] 1 test.</a:t>
            </a:r>
          </a:p>
        </p:txBody>
      </p:sp>
      <p:sp>
        <p:nvSpPr>
          <p:cNvPr id="276" name="Expected: (INT_MIN + 1) - 1 = INT_MIN"/>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(INT_MIN + 1) - 1 = INT_MIN</a:t>
            </a:r>
          </a:p>
        </p:txBody>
      </p:sp>
      <p:sp>
        <p:nvSpPr>
          <p:cNvPr id="277" name="Further testing: Add more negative values and mixe"/>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Add more negative values and mixed-sign cases.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82" name="Does INT_MAX + 1 raise an error?"/>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Does INT_MAX + 1 raise an error?</a:t>
            </a:r>
          </a:p>
        </p:txBody>
      </p:sp>
      <p:sp>
        <p:nvSpPr>
          <p:cNvPr id="28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84" name="TEST(SafeAddition, RejectsOverflow) {  EXPECT_THR"/>
          <p:cNvSpPr txBox="1"/>
          <p:nvPr/>
        </p:nvSpPr>
        <p:spPr>
          <a:xfrm>
            <a:off x="685800" y="2695575"/>
            <a:ext cx="10287000" cy="1016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RejectsOverflow) {</a:t>
            </a:r>
          </a:p>
          <a:p>
            <a:pPr>
              <a:defRPr sz="1600">
                <a:solidFill>
                  <a:srgbClr val="FFFFFF"/>
                </a:solidFill>
                <a:latin typeface="Century Gothic"/>
                <a:ea typeface="Century Gothic"/>
                <a:cs typeface="Century Gothic"/>
                <a:sym typeface="Century Gothic"/>
              </a:defRPr>
            </a:pPr>
            <a:r>
              <a:t>  EXPECT_THROW(addUnits(std::numeric_limits&lt;int&gt;::max(), 1),</a:t>
            </a:r>
          </a:p>
          <a:p>
            <a:pPr>
              <a:defRPr sz="1600">
                <a:solidFill>
                  <a:srgbClr val="FFFFFF"/>
                </a:solidFill>
                <a:latin typeface="Century Gothic"/>
                <a:ea typeface="Century Gothic"/>
                <a:cs typeface="Century Gothic"/>
                <a:sym typeface="Century Gothic"/>
              </a:defRPr>
            </a:pPr>
            <a:r>
              <a:t>    std::overflow_error);</a:t>
            </a:r>
          </a:p>
          <a:p>
            <a:pPr>
              <a:defRPr sz="1600">
                <a:solidFill>
                  <a:srgbClr val="FFFFFF"/>
                </a:solidFill>
                <a:latin typeface="Century Gothic"/>
                <a:ea typeface="Century Gothic"/>
                <a:cs typeface="Century Gothic"/>
                <a:sym typeface="Century Gothic"/>
              </a:defRPr>
            </a:pPr>
            <a:r>
              <a:t>}</a:t>
            </a:r>
          </a:p>
        </p:txBody>
      </p:sp>
      <p:sp>
        <p:nvSpPr>
          <p:cNvPr id="285" name="[ RUN      ] SafeAddition.RejectsOverflow[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SafeAddition.RejectsOverflow</a:t>
            </a:r>
          </a:p>
          <a:p>
            <a:pPr>
              <a:defRPr sz="1800">
                <a:solidFill>
                  <a:srgbClr val="B7D397"/>
                </a:solidFill>
                <a:latin typeface="Century Gothic"/>
                <a:ea typeface="Century Gothic"/>
                <a:cs typeface="Century Gothic"/>
                <a:sym typeface="Century Gothic"/>
              </a:defRPr>
            </a:pPr>
            <a:r>
              <a:t>[       OK ] SafeAddition.RejectsOverflow (0 ms)</a:t>
            </a:r>
          </a:p>
          <a:p>
            <a:pPr>
              <a:defRPr sz="1800">
                <a:solidFill>
                  <a:srgbClr val="B7D397"/>
                </a:solidFill>
                <a:latin typeface="Century Gothic"/>
                <a:ea typeface="Century Gothic"/>
                <a:cs typeface="Century Gothic"/>
                <a:sym typeface="Century Gothic"/>
              </a:defRPr>
            </a:pPr>
            <a:r>
              <a:t>[  PASSED  ] 1 test.</a:t>
            </a:r>
          </a:p>
        </p:txBody>
      </p:sp>
      <p:sp>
        <p:nvSpPr>
          <p:cNvPr id="286" name="Expected: std::overflow_error"/>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std::overflow_error</a:t>
            </a:r>
          </a:p>
        </p:txBody>
      </p:sp>
      <p:sp>
        <p:nvSpPr>
          <p:cNvPr id="287" name="Further testing: Verify the caller reports failure"/>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Verify the caller reports failure without changing stored data.</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1" name="Google Shape;197;g9504e29505_0_0" descr="Google Shape;197;g9504e29505_0_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292" name="Does INT_MIN - 1 raise an error?"/>
          <p:cNvSpPr txBox="1"/>
          <p:nvPr/>
        </p:nvSpPr>
        <p:spPr>
          <a:xfrm>
            <a:off x="685800" y="1066800"/>
            <a:ext cx="108204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100">
                <a:solidFill>
                  <a:srgbClr val="FFFFFF"/>
                </a:solidFill>
                <a:latin typeface="Century Gothic"/>
                <a:ea typeface="Century Gothic"/>
                <a:cs typeface="Century Gothic"/>
                <a:sym typeface="Century Gothic"/>
              </a:defRPr>
            </a:lvl1pPr>
          </a:lstStyle>
          <a:p>
            <a:pPr/>
            <a:r>
              <a:t>Does INT_MIN - 1 raise an error?</a:t>
            </a:r>
          </a:p>
        </p:txBody>
      </p:sp>
      <p:sp>
        <p:nvSpPr>
          <p:cNvPr id="293" name="STD-002-CPP · Google Test on macOS · actual run ou"/>
          <p:cNvSpPr txBox="1"/>
          <p:nvPr/>
        </p:nvSpPr>
        <p:spPr>
          <a:xfrm>
            <a:off x="685800" y="2143125"/>
            <a:ext cx="10287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B7D397"/>
                </a:solidFill>
                <a:latin typeface="Century Gothic"/>
                <a:ea typeface="Century Gothic"/>
                <a:cs typeface="Century Gothic"/>
                <a:sym typeface="Century Gothic"/>
              </a:defRPr>
            </a:lvl1pPr>
          </a:lstStyle>
          <a:p>
            <a:pPr/>
            <a:r>
              <a:t>STD-002-CPP · Google Test on macOS · actual run output</a:t>
            </a:r>
          </a:p>
        </p:txBody>
      </p:sp>
      <p:sp>
        <p:nvSpPr>
          <p:cNvPr id="294" name="TEST(SafeAddition, RejectsUnderflow) {  EXPECT_TH"/>
          <p:cNvSpPr txBox="1"/>
          <p:nvPr/>
        </p:nvSpPr>
        <p:spPr>
          <a:xfrm>
            <a:off x="685800" y="2695575"/>
            <a:ext cx="10287000" cy="1016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FFFFFF"/>
                </a:solidFill>
                <a:latin typeface="Century Gothic"/>
                <a:ea typeface="Century Gothic"/>
                <a:cs typeface="Century Gothic"/>
                <a:sym typeface="Century Gothic"/>
              </a:defRPr>
            </a:pPr>
            <a:r>
              <a:t>TEST(SafeAddition, RejectsUnderflow) {</a:t>
            </a:r>
          </a:p>
          <a:p>
            <a:pPr>
              <a:defRPr sz="1600">
                <a:solidFill>
                  <a:srgbClr val="FFFFFF"/>
                </a:solidFill>
                <a:latin typeface="Century Gothic"/>
                <a:ea typeface="Century Gothic"/>
                <a:cs typeface="Century Gothic"/>
                <a:sym typeface="Century Gothic"/>
              </a:defRPr>
            </a:pPr>
            <a:r>
              <a:t>  EXPECT_THROW(addUnits(std::numeric_limits&lt;int&gt;::min(), -1),</a:t>
            </a:r>
          </a:p>
          <a:p>
            <a:pPr>
              <a:defRPr sz="1600">
                <a:solidFill>
                  <a:srgbClr val="FFFFFF"/>
                </a:solidFill>
                <a:latin typeface="Century Gothic"/>
                <a:ea typeface="Century Gothic"/>
                <a:cs typeface="Century Gothic"/>
                <a:sym typeface="Century Gothic"/>
              </a:defRPr>
            </a:pPr>
            <a:r>
              <a:t>    std::overflow_error);</a:t>
            </a:r>
          </a:p>
          <a:p>
            <a:pPr>
              <a:defRPr sz="1600">
                <a:solidFill>
                  <a:srgbClr val="FFFFFF"/>
                </a:solidFill>
                <a:latin typeface="Century Gothic"/>
                <a:ea typeface="Century Gothic"/>
                <a:cs typeface="Century Gothic"/>
                <a:sym typeface="Century Gothic"/>
              </a:defRPr>
            </a:pPr>
            <a:r>
              <a:t>}</a:t>
            </a:r>
          </a:p>
        </p:txBody>
      </p:sp>
      <p:sp>
        <p:nvSpPr>
          <p:cNvPr id="295" name="[ RUN      ] SafeAddition.RejectsUnderflow[      "/>
          <p:cNvSpPr txBox="1"/>
          <p:nvPr/>
        </p:nvSpPr>
        <p:spPr>
          <a:xfrm>
            <a:off x="685800" y="4162425"/>
            <a:ext cx="102870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800">
                <a:solidFill>
                  <a:srgbClr val="B7D397"/>
                </a:solidFill>
                <a:latin typeface="Century Gothic"/>
                <a:ea typeface="Century Gothic"/>
                <a:cs typeface="Century Gothic"/>
                <a:sym typeface="Century Gothic"/>
              </a:defRPr>
            </a:pPr>
            <a:r>
              <a:t>[ RUN      ] SafeAddition.RejectsUnderflow</a:t>
            </a:r>
          </a:p>
          <a:p>
            <a:pPr>
              <a:defRPr sz="1800">
                <a:solidFill>
                  <a:srgbClr val="B7D397"/>
                </a:solidFill>
                <a:latin typeface="Century Gothic"/>
                <a:ea typeface="Century Gothic"/>
                <a:cs typeface="Century Gothic"/>
                <a:sym typeface="Century Gothic"/>
              </a:defRPr>
            </a:pPr>
            <a:r>
              <a:t>[       OK ] SafeAddition.RejectsUnderflow (0 ms)</a:t>
            </a:r>
          </a:p>
          <a:p>
            <a:pPr>
              <a:defRPr sz="1800">
                <a:solidFill>
                  <a:srgbClr val="B7D397"/>
                </a:solidFill>
                <a:latin typeface="Century Gothic"/>
                <a:ea typeface="Century Gothic"/>
                <a:cs typeface="Century Gothic"/>
                <a:sym typeface="Century Gothic"/>
              </a:defRPr>
            </a:pPr>
            <a:r>
              <a:t>[  PASSED  ] 1 test.</a:t>
            </a:r>
          </a:p>
        </p:txBody>
      </p:sp>
      <p:sp>
        <p:nvSpPr>
          <p:cNvPr id="296" name="Expected: std::overflow_error"/>
          <p:cNvSpPr txBox="1"/>
          <p:nvPr/>
        </p:nvSpPr>
        <p:spPr>
          <a:xfrm>
            <a:off x="685800" y="5400675"/>
            <a:ext cx="10287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FFFFFF"/>
                </a:solidFill>
                <a:latin typeface="Century Gothic"/>
                <a:ea typeface="Century Gothic"/>
                <a:cs typeface="Century Gothic"/>
                <a:sym typeface="Century Gothic"/>
              </a:defRPr>
            </a:lvl1pPr>
          </a:lstStyle>
          <a:p>
            <a:pPr/>
            <a:r>
              <a:t>Expected: std::overflow_error</a:t>
            </a:r>
          </a:p>
        </p:txBody>
      </p:sp>
      <p:sp>
        <p:nvSpPr>
          <p:cNvPr id="297" name="Further testing: Add randomized cases checked agai"/>
          <p:cNvSpPr txBox="1"/>
          <p:nvPr/>
        </p:nvSpPr>
        <p:spPr>
          <a:xfrm>
            <a:off x="685800" y="5915025"/>
            <a:ext cx="100965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entury Gothic"/>
                <a:ea typeface="Century Gothic"/>
                <a:cs typeface="Century Gothic"/>
                <a:sym typeface="Century Gothic"/>
              </a:defRPr>
            </a:lvl1pPr>
          </a:lstStyle>
          <a:p>
            <a:pPr/>
            <a:r>
              <a:t>Further testing: Add randomized cases checked against a wider reference type.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1" name="Google Shape;203;p9" descr="Google Shape;203;p9"/>
          <p:cNvPicPr>
            <a:picLocks noChangeAspect="1"/>
          </p:cNvPicPr>
          <p:nvPr/>
        </p:nvPicPr>
        <p:blipFill>
          <a:blip r:embed="rId3">
            <a:extLst/>
          </a:blip>
          <a:stretch>
            <a:fillRect/>
          </a:stretch>
        </p:blipFill>
        <p:spPr>
          <a:xfrm>
            <a:off x="2127250" y="2199481"/>
            <a:ext cx="7937500" cy="4013201"/>
          </a:xfrm>
          <a:prstGeom prst="rect">
            <a:avLst/>
          </a:prstGeom>
          <a:ln w="12700">
            <a:miter lim="400000"/>
          </a:ln>
        </p:spPr>
      </p:pic>
      <p:pic>
        <p:nvPicPr>
          <p:cNvPr id="302" name="Google Shape;204;p9" descr="Google Shape;204;p9"/>
          <p:cNvPicPr>
            <a:picLocks noChangeAspect="1"/>
          </p:cNvPicPr>
          <p:nvPr/>
        </p:nvPicPr>
        <p:blipFill>
          <a:blip r:embed="rId4">
            <a:extLst/>
          </a:blip>
          <a:stretch>
            <a:fillRect/>
          </a:stretch>
        </p:blipFill>
        <p:spPr>
          <a:xfrm>
            <a:off x="11084073" y="5440526"/>
            <a:ext cx="886602" cy="1149226"/>
          </a:xfrm>
          <a:prstGeom prst="rect">
            <a:avLst/>
          </a:prstGeom>
          <a:ln w="12700">
            <a:miter lim="400000"/>
          </a:ln>
        </p:spPr>
      </p:pic>
      <p:sp>
        <p:nvSpPr>
          <p:cNvPr id="303" name="AUTOMATION SUMMARY"/>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AUTOMATION SUMMARY</a:t>
            </a:r>
          </a:p>
        </p:txBody>
      </p:sp>
      <p:sp>
        <p:nvSpPr>
          <p:cNvPr id="304" name="Security checks repeat throughout the DevSecOps cy"/>
          <p:cNvSpPr txBox="1"/>
          <p:nvPr/>
        </p:nvSpPr>
        <p:spPr>
          <a:xfrm>
            <a:off x="685800" y="6296025"/>
            <a:ext cx="10096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FFFFFF"/>
                </a:solidFill>
                <a:latin typeface="Century Gothic"/>
                <a:ea typeface="Century Gothic"/>
                <a:cs typeface="Century Gothic"/>
                <a:sym typeface="Century Gothic"/>
              </a:defRPr>
            </a:lvl1pPr>
          </a:lstStyle>
          <a:p>
            <a:pPr/>
            <a:r>
              <a:t>Security checks repeat throughout the DevSecOps cycle.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8" name="Google Shape;211;p10" descr="Google Shape;211;p1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09" name="TOOLS IN THE PIPELINE"/>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TOOLS IN THE PIPELINE</a:t>
            </a:r>
          </a:p>
        </p:txBody>
      </p:sp>
      <p:graphicFrame>
        <p:nvGraphicFramePr>
          <p:cNvPr id="310" name="Table 1"/>
          <p:cNvGraphicFramePr/>
          <p:nvPr/>
        </p:nvGraphicFramePr>
        <p:xfrm>
          <a:off x="685800" y="2209800"/>
          <a:ext cx="10096500" cy="381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43000"/>
                <a:gridCol w="1047750"/>
                <a:gridCol w="7905750"/>
              </a:tblGrid>
              <a:tr h="346364">
                <a:tc>
                  <a:txBody>
                    <a:bodyPr/>
                    <a:lstStyle/>
                    <a:p>
                      <a:pPr algn="l">
                        <a:defRPr sz="1800"/>
                      </a:pPr>
                      <a:r>
                        <a:rPr b="1" sz="1500">
                          <a:solidFill>
                            <a:srgbClr val="FFFFFF"/>
                          </a:solidFill>
                          <a:latin typeface="Century Gothic"/>
                          <a:ea typeface="Century Gothic"/>
                          <a:cs typeface="Century Gothic"/>
                        </a:rPr>
                        <a:t>Stage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c>
                  <a:txBody>
                    <a:bodyPr/>
                    <a:lstStyle/>
                    <a:p>
                      <a:pPr algn="l">
                        <a:defRPr sz="1800"/>
                      </a:pPr>
                      <a:r>
                        <a:rPr b="1" sz="1500">
                          <a:solidFill>
                            <a:srgbClr val="FFFFFF"/>
                          </a:solidFill>
                          <a:latin typeface="Century Gothic"/>
                          <a:ea typeface="Century Gothic"/>
                          <a:cs typeface="Century Gothic"/>
                        </a:rPr>
                        <a:t>STD ID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c>
                  <a:txBody>
                    <a:bodyPr/>
                    <a:lstStyle/>
                    <a:p>
                      <a:pPr algn="l">
                        <a:defRPr sz="1800"/>
                      </a:pPr>
                      <a:r>
                        <a:rPr b="1" sz="1500">
                          <a:solidFill>
                            <a:srgbClr val="FFFFFF"/>
                          </a:solidFill>
                          <a:latin typeface="Century Gothic"/>
                          <a:ea typeface="Century Gothic"/>
                          <a:cs typeface="Century Gothic"/>
                        </a:rPr>
                        <a:t>Observed finding in vulnerable example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476D37"/>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001</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Clang: conversion loses integer precision</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Verify</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002</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UBSan: signed integer overflow</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003</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Clang: string copy will overflow destination</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Verify</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004</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SQLite: injected query matches; bound query rejects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005</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Cppcheck: deallocret (read after release)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006</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Cppcheck: assignmentInAssert</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007</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Cppcheck: memleak on exception path</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008</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Clang: conditional use of uninitialized variable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009</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Cppcheck: containerOutOfBounds</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r h="346364">
                <a:tc>
                  <a:txBody>
                    <a:bodyPr/>
                    <a:lstStyle/>
                    <a:p>
                      <a:pPr algn="l">
                        <a:defRPr sz="1800"/>
                      </a:pPr>
                      <a:r>
                        <a:rPr sz="1500">
                          <a:solidFill>
                            <a:srgbClr val="FFFFFF"/>
                          </a:solidFill>
                          <a:latin typeface="Century Gothic"/>
                          <a:ea typeface="Century Gothic"/>
                          <a:cs typeface="Century Gothic"/>
                        </a:rPr>
                        <a:t>Build</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010</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c>
                  <a:txBody>
                    <a:bodyPr/>
                    <a:lstStyle/>
                    <a:p>
                      <a:pPr algn="l">
                        <a:defRPr sz="1800"/>
                      </a:pPr>
                      <a:r>
                        <a:rPr sz="1500">
                          <a:solidFill>
                            <a:srgbClr val="FFFFFF"/>
                          </a:solidFill>
                          <a:latin typeface="Century Gothic"/>
                          <a:ea typeface="Century Gothic"/>
                          <a:cs typeface="Century Gothic"/>
                        </a:rPr>
                        <a:t>Clang: mismatched-new-delete</a:t>
                      </a:r>
                    </a:p>
                  </a:txBody>
                  <a:tcPr marL="45720" marR="45720" marT="45720" marB="45720" anchor="t" anchorCtr="0" horzOverflow="overflow">
                    <a:lnL w="6668">
                      <a:solidFill>
                        <a:srgbClr val="666666"/>
                      </a:solidFill>
                    </a:lnL>
                    <a:lnR w="6668">
                      <a:solidFill>
                        <a:srgbClr val="666666"/>
                      </a:solidFill>
                    </a:lnR>
                    <a:lnT w="6668">
                      <a:solidFill>
                        <a:srgbClr val="666666"/>
                      </a:solidFill>
                    </a:lnT>
                    <a:lnB w="6668">
                      <a:solidFill>
                        <a:srgbClr val="666666"/>
                      </a:solidFill>
                    </a:lnB>
                    <a:solidFill>
                      <a:srgbClr val="111111"/>
                    </a:solidFill>
                  </a:tcPr>
                </a:tc>
              </a:tr>
            </a:tbl>
          </a:graphicData>
        </a:graphic>
      </p:graphicFrame>
      <p:sp>
        <p:nvSpPr>
          <p:cNvPr id="311" name="Transition checks TLS and permissions. Monitor cor"/>
          <p:cNvSpPr txBox="1"/>
          <p:nvPr/>
        </p:nvSpPr>
        <p:spPr>
          <a:xfrm>
            <a:off x="685800" y="6191250"/>
            <a:ext cx="100965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FFFFFF"/>
                </a:solidFill>
                <a:latin typeface="Century Gothic"/>
                <a:ea typeface="Century Gothic"/>
                <a:cs typeface="Century Gothic"/>
                <a:sym typeface="Century Gothic"/>
              </a:defRPr>
            </a:lvl1pPr>
          </a:lstStyle>
          <a:p>
            <a:pPr/>
            <a:r>
              <a:t>Transition checks TLS and permissions. Monitor correlates logs. Retain evidence.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15" name="Google Shape;211;p10" descr="Google Shape;211;p10"/>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16" name="EARLIER ANALYSIS RESULT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EARLIER ANALYSIS RESULTS</a:t>
            </a:r>
          </a:p>
        </p:txBody>
      </p:sp>
      <p:pic>
        <p:nvPicPr>
          <p:cNvPr id="317" name="image6.png" descr="image6.png"/>
          <p:cNvPicPr>
            <a:picLocks noChangeAspect="1"/>
          </p:cNvPicPr>
          <p:nvPr/>
        </p:nvPicPr>
        <p:blipFill>
          <a:blip r:embed="rId4">
            <a:extLst/>
          </a:blip>
          <a:srcRect l="5000" t="75500" r="30000" b="15499"/>
          <a:stretch>
            <a:fillRect/>
          </a:stretch>
        </p:blipFill>
        <p:spPr>
          <a:xfrm>
            <a:off x="685799" y="2762250"/>
            <a:ext cx="10096502" cy="857250"/>
          </a:xfrm>
          <a:prstGeom prst="rect">
            <a:avLst/>
          </a:prstGeom>
          <a:ln w="12700">
            <a:miter lim="400000"/>
          </a:ln>
        </p:spPr>
      </p:pic>
      <p:sp>
        <p:nvSpPr>
          <p:cNvPr id="318" name="Clang: side effect in assert() condition discarded"/>
          <p:cNvSpPr txBox="1"/>
          <p:nvPr/>
        </p:nvSpPr>
        <p:spPr>
          <a:xfrm>
            <a:off x="685800" y="4552950"/>
            <a:ext cx="100965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FFFFFF"/>
                </a:solidFill>
                <a:latin typeface="Century Gothic"/>
                <a:ea typeface="Century Gothic"/>
                <a:cs typeface="Century Gothic"/>
                <a:sym typeface="Century Gothic"/>
              </a:defRPr>
            </a:lvl1pPr>
          </a:lstStyle>
          <a:p>
            <a:pPr/>
            <a:r>
              <a:t>Clang: side effect in assert() condition discarded in release builds</a:t>
            </a:r>
          </a:p>
        </p:txBody>
      </p:sp>
      <p:sp>
        <p:nvSpPr>
          <p:cNvPr id="319" name="Saved Cppcheck 2.22.0 report: assertion side effec"/>
          <p:cNvSpPr txBox="1"/>
          <p:nvPr/>
        </p:nvSpPr>
        <p:spPr>
          <a:xfrm>
            <a:off x="685800" y="5219700"/>
            <a:ext cx="100965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FFFFFF"/>
                </a:solidFill>
                <a:latin typeface="Century Gothic"/>
                <a:ea typeface="Century Gothic"/>
                <a:cs typeface="Century Gothic"/>
                <a:sym typeface="Century Gothic"/>
              </a:defRPr>
            </a:lvl1pPr>
          </a:lstStyle>
          <a:p>
            <a:pPr/>
            <a:r>
              <a:t>Saved Cppcheck 2.22.0 report: assertion side effects, an out-of-bounds index, and an uninitialized member.</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3" name="Google Shape;218;p11" descr="Google Shape;218;p11"/>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24" name="RISKS AND BENEFIT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RISKS AND BENEFITS</a:t>
            </a:r>
          </a:p>
        </p:txBody>
      </p:sp>
      <p:sp>
        <p:nvSpPr>
          <p:cNvPr id="325" name="Act now: remove dangerous input and memory paths b"/>
          <p:cNvSpPr txBox="1"/>
          <p:nvPr/>
        </p:nvSpPr>
        <p:spPr>
          <a:xfrm>
            <a:off x="685800" y="2238375"/>
            <a:ext cx="10001250" cy="297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FFFFFF"/>
                </a:solidFill>
                <a:latin typeface="Century Gothic"/>
                <a:ea typeface="Century Gothic"/>
                <a:cs typeface="Century Gothic"/>
                <a:sym typeface="Century Gothic"/>
              </a:defRPr>
            </a:pPr>
            <a:r>
              <a:t>Act now: remove dangerous input and memory paths before more code depends on them.</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Implementation costs: developer time, false positives, slower builds, and key management.</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Waiting: leaves known exposure and makes later repair harder.</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Remaining risk: missed paths, misconfiguration, and compromised identities.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9" name="Google Shape;225;p12" descr="Google Shape;225;p12"/>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30" name="RECOMMENDATION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RECOMMENDATIONS</a:t>
            </a:r>
          </a:p>
        </p:txBody>
      </p:sp>
      <p:sp>
        <p:nvSpPr>
          <p:cNvPr id="331" name="Gap: rule coverage needs proof with known bad exam"/>
          <p:cNvSpPr txBox="1"/>
          <p:nvPr/>
        </p:nvSpPr>
        <p:spPr>
          <a:xfrm>
            <a:off x="685800" y="2238375"/>
            <a:ext cx="10001250" cy="2311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FFFFFF"/>
                </a:solidFill>
                <a:latin typeface="Century Gothic"/>
                <a:ea typeface="Century Gothic"/>
                <a:cs typeface="Century Gothic"/>
                <a:sym typeface="Century Gothic"/>
              </a:defRPr>
            </a:pPr>
            <a:r>
              <a:t>Gap: rule coverage needs proof with known bad examples.</a:t>
            </a:r>
          </a:p>
          <a:p>
            <a:pPr>
              <a:defRPr sz="2100">
                <a:solidFill>
                  <a:srgbClr val="FFFFFF"/>
                </a:solidFill>
                <a:latin typeface="Century Gothic"/>
                <a:ea typeface="Century Gothic"/>
                <a:cs typeface="Century Gothic"/>
                <a:sym typeface="Century Gothic"/>
              </a:defRPr>
            </a:pPr>
            <a:r>
              <a:t>Gap: security tests need owners and release criteria.</a:t>
            </a:r>
          </a:p>
          <a:p>
            <a:pPr>
              <a:defRPr sz="2100">
                <a:solidFill>
                  <a:srgbClr val="FFFFFF"/>
                </a:solidFill>
                <a:latin typeface="Century Gothic"/>
                <a:ea typeface="Century Gothic"/>
                <a:cs typeface="Century Gothic"/>
                <a:sym typeface="Century Gothic"/>
              </a:defRPr>
            </a:pPr>
            <a:r>
              <a:t>Gap: key recovery and log retention need implementation detail.</a:t>
            </a:r>
          </a:p>
          <a:p>
            <a:pPr>
              <a:defRPr sz="2100">
                <a:solidFill>
                  <a:srgbClr val="FFFFFF"/>
                </a:solidFill>
                <a:latin typeface="Century Gothic"/>
                <a:ea typeface="Century Gothic"/>
                <a:cs typeface="Century Gothic"/>
                <a:sym typeface="Century Gothic"/>
              </a:defRPr>
            </a:pPr>
            <a:r>
              <a:t>Gap: dependencies need an inventory and patch process.</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Change Healthcare illustrates why an MFA policy also needs coverage checks.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35" name="Google Shape;232;p13" descr="Google Shape;232;p13"/>
          <p:cNvPicPr>
            <a:picLocks noChangeAspect="1"/>
          </p:cNvPicPr>
          <p:nvPr/>
        </p:nvPicPr>
        <p:blipFill>
          <a:blip r:embed="rId3">
            <a:extLst/>
          </a:blip>
          <a:stretch>
            <a:fillRect/>
          </a:stretch>
        </p:blipFill>
        <p:spPr>
          <a:xfrm>
            <a:off x="11084073" y="5440526"/>
            <a:ext cx="886602" cy="1149226"/>
          </a:xfrm>
          <a:prstGeom prst="rect">
            <a:avLst/>
          </a:prstGeom>
          <a:ln w="12700">
            <a:miter lim="400000"/>
          </a:ln>
        </p:spPr>
      </p:pic>
      <p:sp>
        <p:nvSpPr>
          <p:cNvPr id="336" name="CONCLUSION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CONCLUSIONS</a:t>
            </a:r>
          </a:p>
        </p:txBody>
      </p:sp>
      <p:sp>
        <p:nvSpPr>
          <p:cNvPr id="337" name="Keep the ten coding standards as the shared baseli"/>
          <p:cNvSpPr txBox="1"/>
          <p:nvPr/>
        </p:nvSpPr>
        <p:spPr>
          <a:xfrm>
            <a:off x="685800" y="2238375"/>
            <a:ext cx="10001250" cy="2311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FFFFFF"/>
                </a:solidFill>
                <a:latin typeface="Century Gothic"/>
                <a:ea typeface="Century Gothic"/>
                <a:cs typeface="Century Gothic"/>
                <a:sym typeface="Century Gothic"/>
              </a:defRPr>
            </a:pPr>
            <a:r>
              <a:t>Keep the ten coding standards as the shared baseline.</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Use NIST SSDF to strengthen development and vulnerability response.</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Add regression tests for defects and track approved exceptions.</a:t>
            </a:r>
          </a:p>
          <a:p>
            <a:pPr>
              <a:defRPr sz="2100">
                <a:solidFill>
                  <a:srgbClr val="FFFFFF"/>
                </a:solidFill>
                <a:latin typeface="Century Gothic"/>
                <a:ea typeface="Century Gothic"/>
                <a:cs typeface="Century Gothic"/>
                <a:sym typeface="Century Gothic"/>
              </a:defRPr>
            </a:pPr>
          </a:p>
          <a:p>
            <a:pPr>
              <a:defRPr sz="2100">
                <a:solidFill>
                  <a:srgbClr val="FFFFFF"/>
                </a:solidFill>
                <a:latin typeface="Century Gothic"/>
                <a:ea typeface="Century Gothic"/>
                <a:cs typeface="Century Gothic"/>
                <a:sym typeface="Century Gothic"/>
              </a:defRPr>
            </a:pPr>
            <a:r>
              <a:t>Review annually and after incidents, major changes, or new threats.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41" name="Google Shape;239;p14" descr="Google Shape;239;p14"/>
          <p:cNvPicPr>
            <a:picLocks noChangeAspect="1"/>
          </p:cNvPicPr>
          <p:nvPr/>
        </p:nvPicPr>
        <p:blipFill>
          <a:blip r:embed="rId2">
            <a:extLst/>
          </a:blip>
          <a:stretch>
            <a:fillRect/>
          </a:stretch>
        </p:blipFill>
        <p:spPr>
          <a:xfrm>
            <a:off x="11084073" y="5440526"/>
            <a:ext cx="886602" cy="1149226"/>
          </a:xfrm>
          <a:prstGeom prst="rect">
            <a:avLst/>
          </a:prstGeom>
          <a:ln w="12700">
            <a:miter lim="400000"/>
          </a:ln>
        </p:spPr>
      </p:pic>
      <p:sp>
        <p:nvSpPr>
          <p:cNvPr id="342" name="REFERENCES"/>
          <p:cNvSpPr txBox="1"/>
          <p:nvPr/>
        </p:nvSpPr>
        <p:spPr>
          <a:xfrm>
            <a:off x="685800" y="10668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FFFFFF"/>
                </a:solidFill>
                <a:latin typeface="Century Gothic"/>
                <a:ea typeface="Century Gothic"/>
                <a:cs typeface="Century Gothic"/>
                <a:sym typeface="Century Gothic"/>
              </a:defRPr>
            </a:lvl1pPr>
          </a:lstStyle>
          <a:p>
            <a:pPr/>
            <a:r>
              <a:t>REFERENCES</a:t>
            </a:r>
          </a:p>
        </p:txBody>
      </p:sp>
      <p:sp>
        <p:nvSpPr>
          <p:cNvPr id="343" name="Albosta, B. (2026a). Green Pace secure development"/>
          <p:cNvSpPr txBox="1"/>
          <p:nvPr/>
        </p:nvSpPr>
        <p:spPr>
          <a:xfrm>
            <a:off x="685800" y="2114550"/>
            <a:ext cx="10096500" cy="3911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FFFFF"/>
                </a:solidFill>
                <a:latin typeface="Century Gothic"/>
                <a:ea typeface="Century Gothic"/>
                <a:cs typeface="Century Gothic"/>
                <a:sym typeface="Century Gothic"/>
              </a:defRPr>
            </a:pPr>
            <a:r>
              <a:t>GitHub. (n.d.). Uncontrolled data in SQL query. </a:t>
            </a:r>
            <a:r>
              <a:rPr u="sng">
                <a:solidFill>
                  <a:srgbClr val="F0532B"/>
                </a:solidFill>
                <a:uFill>
                  <a:solidFill>
                    <a:srgbClr val="F0532B"/>
                  </a:solidFill>
                </a:uFill>
                <a:hlinkClick r:id="rId3" invalidUrl="" action="" tgtFrame="" tooltip="" history="1" highlightClick="0" endSnd="0"/>
              </a:rPr>
              <a:t>https://codeql.github.com/codeql-query-help/cpp/cpp-sql-injection/</a:t>
            </a:r>
          </a:p>
          <a:p>
            <a:pPr>
              <a:defRPr sz="1500">
                <a:solidFill>
                  <a:srgbClr val="FFFFFF"/>
                </a:solidFill>
                <a:latin typeface="Century Gothic"/>
                <a:ea typeface="Century Gothic"/>
                <a:cs typeface="Century Gothic"/>
                <a:sym typeface="Century Gothic"/>
              </a:defRPr>
            </a:pPr>
          </a:p>
          <a:p>
            <a:pPr>
              <a:defRPr sz="1500">
                <a:solidFill>
                  <a:srgbClr val="FFFFFF"/>
                </a:solidFill>
                <a:latin typeface="Century Gothic"/>
                <a:ea typeface="Century Gothic"/>
                <a:cs typeface="Century Gothic"/>
                <a:sym typeface="Century Gothic"/>
              </a:defRPr>
            </a:pPr>
            <a:r>
              <a:t>Google. (n.d.). GoogleTest primer. </a:t>
            </a:r>
            <a:r>
              <a:rPr u="sng">
                <a:solidFill>
                  <a:srgbClr val="F0532B"/>
                </a:solidFill>
                <a:uFill>
                  <a:solidFill>
                    <a:srgbClr val="F0532B"/>
                  </a:solidFill>
                </a:uFill>
                <a:hlinkClick r:id="rId4" invalidUrl="" action="" tgtFrame="" tooltip="" history="1" highlightClick="0" endSnd="0"/>
              </a:rPr>
              <a:t>https://google.github.io/googletest/primer.html</a:t>
            </a:r>
          </a:p>
          <a:p>
            <a:pPr>
              <a:defRPr sz="1500">
                <a:solidFill>
                  <a:srgbClr val="FFFFFF"/>
                </a:solidFill>
                <a:latin typeface="Century Gothic"/>
                <a:ea typeface="Century Gothic"/>
                <a:cs typeface="Century Gothic"/>
                <a:sym typeface="Century Gothic"/>
              </a:defRPr>
            </a:pPr>
          </a:p>
          <a:p>
            <a:pPr>
              <a:defRPr sz="1500">
                <a:solidFill>
                  <a:srgbClr val="FFFFFF"/>
                </a:solidFill>
                <a:latin typeface="Century Gothic"/>
                <a:ea typeface="Century Gothic"/>
                <a:cs typeface="Century Gothic"/>
                <a:sym typeface="Century Gothic"/>
              </a:defRPr>
            </a:pPr>
            <a:r>
              <a:t>LLVM Project. (n.d.). UndefinedBehaviorSanitizer. </a:t>
            </a:r>
            <a:r>
              <a:rPr u="sng">
                <a:solidFill>
                  <a:srgbClr val="F0532B"/>
                </a:solidFill>
                <a:uFill>
                  <a:solidFill>
                    <a:srgbClr val="F0532B"/>
                  </a:solidFill>
                </a:uFill>
                <a:hlinkClick r:id="rId5" invalidUrl="" action="" tgtFrame="" tooltip="" history="1" highlightClick="0" endSnd="0"/>
              </a:rPr>
              <a:t>https://clang.llvm.org/docs/UndefinedBehaviorSanitizer.html</a:t>
            </a:r>
          </a:p>
          <a:p>
            <a:pPr>
              <a:defRPr sz="1500">
                <a:solidFill>
                  <a:srgbClr val="FFFFFF"/>
                </a:solidFill>
                <a:latin typeface="Century Gothic"/>
                <a:ea typeface="Century Gothic"/>
                <a:cs typeface="Century Gothic"/>
                <a:sym typeface="Century Gothic"/>
              </a:defRPr>
            </a:pPr>
          </a:p>
          <a:p>
            <a:pPr>
              <a:defRPr sz="1500">
                <a:solidFill>
                  <a:srgbClr val="FFFFFF"/>
                </a:solidFill>
                <a:latin typeface="Century Gothic"/>
                <a:ea typeface="Century Gothic"/>
                <a:cs typeface="Century Gothic"/>
                <a:sym typeface="Century Gothic"/>
              </a:defRPr>
            </a:pPr>
            <a:r>
              <a:t>Microsoft. (n.d.-a). Write unit tests for C/C++ in Visual Studio. </a:t>
            </a:r>
            <a:r>
              <a:rPr u="sng">
                <a:solidFill>
                  <a:srgbClr val="F0532B"/>
                </a:solidFill>
                <a:uFill>
                  <a:solidFill>
                    <a:srgbClr val="F0532B"/>
                  </a:solidFill>
                </a:uFill>
                <a:hlinkClick r:id="rId6" invalidUrl="" action="" tgtFrame="" tooltip="" history="1" highlightClick="0" endSnd="0"/>
              </a:rPr>
              <a:t>https://learn.microsoft.com/en-us/visualstudio/test/writing-unit-tests-for-c-cpp</a:t>
            </a:r>
          </a:p>
          <a:p>
            <a:pPr>
              <a:defRPr sz="1500">
                <a:solidFill>
                  <a:srgbClr val="FFFFFF"/>
                </a:solidFill>
                <a:latin typeface="Century Gothic"/>
                <a:ea typeface="Century Gothic"/>
                <a:cs typeface="Century Gothic"/>
                <a:sym typeface="Century Gothic"/>
              </a:defRPr>
            </a:pPr>
          </a:p>
          <a:p>
            <a:pPr>
              <a:defRPr sz="1300">
                <a:solidFill>
                  <a:srgbClr val="FFFFFF"/>
                </a:solidFill>
                <a:latin typeface="Century Gothic"/>
                <a:ea typeface="Century Gothic"/>
                <a:cs typeface="Century Gothic"/>
                <a:sym typeface="Century Gothic"/>
              </a:defRPr>
            </a:pPr>
            <a:r>
              <a:t>OWASP Foundation. (n.d.-a). Cryptographic storage cheat sheet. </a:t>
            </a:r>
            <a:r>
              <a:rPr u="sng">
                <a:solidFill>
                  <a:srgbClr val="F0532B"/>
                </a:solidFill>
                <a:uFill>
                  <a:solidFill>
                    <a:srgbClr val="F0532B"/>
                  </a:solidFill>
                </a:uFill>
                <a:hlinkClick r:id="rId7" invalidUrl="" action="" tgtFrame="" tooltip="" history="1" highlightClick="0" endSnd="0"/>
              </a:rPr>
              <a:t>https://cheatsheetseries.owasp.org/cheatsheets/Cryptographic_Storage_Cheat_Sheet.html</a:t>
            </a:r>
          </a:p>
          <a:p>
            <a:pPr>
              <a:defRPr sz="1300">
                <a:solidFill>
                  <a:srgbClr val="FFFFFF"/>
                </a:solidFill>
                <a:latin typeface="Century Gothic"/>
                <a:ea typeface="Century Gothic"/>
                <a:cs typeface="Century Gothic"/>
                <a:sym typeface="Century Gothic"/>
              </a:defRPr>
            </a:pPr>
          </a:p>
          <a:p>
            <a:pPr>
              <a:defRPr sz="1300">
                <a:solidFill>
                  <a:srgbClr val="FFFFFF"/>
                </a:solidFill>
                <a:latin typeface="Century Gothic"/>
                <a:ea typeface="Century Gothic"/>
                <a:cs typeface="Century Gothic"/>
                <a:sym typeface="Century Gothic"/>
              </a:defRPr>
            </a:pPr>
            <a:r>
              <a:t>OWASP Foundation. (n.d.-b). Transport layer security cheat sheet. </a:t>
            </a:r>
            <a:r>
              <a:rPr u="sng">
                <a:solidFill>
                  <a:srgbClr val="F0532B"/>
                </a:solidFill>
                <a:uFill>
                  <a:solidFill>
                    <a:srgbClr val="F0532B"/>
                  </a:solidFill>
                </a:uFill>
                <a:hlinkClick r:id="rId8" invalidUrl="" action="" tgtFrame="" tooltip="" history="1" highlightClick="0" endSnd="0"/>
              </a:rPr>
              <a:t>https://cheatsheetseries.owasp.org/cheatsheets/Transport_Layer_Security_Cheat_Sheet.html</a:t>
            </a:r>
          </a:p>
          <a:p>
            <a:pPr>
              <a:defRPr sz="1300">
                <a:solidFill>
                  <a:srgbClr val="FFFFFF"/>
                </a:solidFill>
                <a:latin typeface="Century Gothic"/>
                <a:ea typeface="Century Gothic"/>
                <a:cs typeface="Century Gothic"/>
                <a:sym typeface="Century Gothic"/>
              </a:defRPr>
            </a:pPr>
          </a:p>
          <a:p>
            <a:pPr>
              <a:defRPr sz="1300">
                <a:solidFill>
                  <a:srgbClr val="FFFFFF"/>
                </a:solidFill>
                <a:latin typeface="Century Gothic"/>
                <a:ea typeface="Century Gothic"/>
                <a:cs typeface="Century Gothic"/>
                <a:sym typeface="Century Gothic"/>
              </a:defRPr>
            </a:pPr>
            <a:r>
              <a:t>SEI CERT. (n.d.). INT32-C. Ensure that operations on signed integers do not result in overflow. </a:t>
            </a:r>
            <a:r>
              <a:rPr u="sng">
                <a:solidFill>
                  <a:srgbClr val="F0532B"/>
                </a:solidFill>
                <a:uFill>
                  <a:solidFill>
                    <a:srgbClr val="F0532B"/>
                  </a:solidFill>
                </a:uFill>
                <a:hlinkClick r:id="rId9" invalidUrl="" action="" tgtFrame="" tooltip="" history="1" highlightClick="0" endSnd="0"/>
              </a:rPr>
              <a:t>https://cmu-sei.github.io/secure-coding-standards/sei-cert-c-coding-standard/rules/integers-int/int32-c/</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000000"/>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Helvetica Neue"/>
        <a:ea typeface="Helvetica Neue"/>
        <a:cs typeface="Helvetica Neue"/>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Helvetica Neue"/>
        <a:ea typeface="Helvetica Neue"/>
        <a:cs typeface="Helvetica Neue"/>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